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10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092665"/>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 วันนี้ผมจะนำเสนอ HairGraph ระบบแนะนำทรงผมที่ใช้ Graph Database คือ Neo4j Aura เก็บข้อมูลว่าใครชอบทรงผมอะไร แล้วแนะนำทรงใหม่ให้ พร้อมบอกเหตุผลได้ว่าทำไมถึงแนะนำ หน้าเว็บทำด้วย Streamlit และดัดแปลงโครงจากโปรเจ็คตัวอย่าง GraphBook ของอาจารย์</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ที่มาของโปรเจ็คคือ เวลาจะเปลี่ยนทรงผม เรามักไม่รู้ว่าจะชอบทรงไหน ถ้าดูว่าคนที่ชอบทรงเดียวกับเรา เขาชอบทรงอะไรอีก ก็น่าจะเป็นทรงที่เราชอบด้วย แนวคิดนี้เรียกว่า Collaborative Filtering ข้อมูลแบบใครชอบอะไรเป็นเครือข่ายความสัมพันธ์ จึงเหมาะกับ Graph Database มากกว่าตาราง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เป้าหมายมี 3 ข้อ ข้อแรก เก็บข้อมูลความชอบเป็นกราฟใน Neo4j ข้อสอง แนะนำทรงผมที่ผู้ใช้ยังไม่เคยชอบ และอธิบายเหตุผลได้ ข้อสาม ทำเป็นเว็บที่ใช้งานจริงได้ เพิ่ม ลบ แก้ไขข้อมูลได้ และมีรูปทรงผมให้ดู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ระบบแบ่งเป็น 3 ชั้น ผู้ใช้กดใช้งานที่หน้าเว็บ app.py ซึ่งไม่ได้เขียน Cypher เอง แต่เรียกฟังก์ชันจาก neo4j_service.py ที่รวมคำสั่ง Cypher ไว้ที่เดียว แล้วส่งไปที่ Neo4j AuraDB การแยกแบบนี้ทำให้แก้ query ได้ที่ไฟล์เดียว แถวล่างคือการ deploy โค้ดกับรูปอยู่บน GitHub Streamlit Cloud ดึงไปรัน ส่วนรหัสผ่านฐานข้อมูลเก็บใน Streamlit Secrets ไม่ได้ commit ขึ้น GitHub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โมเดลข้อมูลมีแค่ 2 ชนิด node คือ Person กับ Style และเส้น LIKES จากคนไปทรงผม ที่มี property score เก็บว่าชอบมากแค่ไหน 1 ถึง 10 เส้นประ RECOMMENDED คือผลแนะนำที่ระบบคำนวณแล้วบันทึกลงฐานข้อมูล เพื่อให้เปิดดูใน Aura ได้ รหัส person_id และ style_id ตั้ง constraint ให้ห้ามซ้ำ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ข้อมูลตั้งต้นมีคน 15 คน ทรงผม 12 ทรง และความชอบ 38 เส้น ชุดเดียวกับที่ทำใน notebook NetworkX และ notebook Neo4j รูปทรงผมเก็บเป็นไฟล์ในโฟลเดอร์ images ของ git ตั้งชื่อตามรหัสทรง เช่น H05.png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สไลด์นี้ตอบว่าทำไมใช้ Graph Database โจทย์คือ หาทรงที่คนที่ชอบทรงเดียวกับ P01 ชอบ แต่ P01 ยังไม่ชอบ ถ้าเป็นฐานข้อมูลตาราง ต้อง JOIN ตาราง likes กับตัวเอง 3 รอบ และมี subquery อีก ส่วน Cypher เขียนเป็นเส้นทาง คน ชอบ ทรงผม ที่คนอื่นชอบ แล้วคนนั้นชอบทรงอื่น อ่านแล้วตรงกับโจทย์เลย และ Neo4j เดินตามเส้นได้เร็วโดยไม่ต้อง JOIN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วิธีแนะนำคือเดินตามเส้นในกราฟ 3 ก้าว ตัวอย่างคือ P01 ณรงค์ศักดิ์ ก้าวแรกดูว่า P01 ชอบทรงอะไร เช่น ยาวดัดลอน ก้าวที่สองดูว่าใครชอบทรงเดียวกัน คืออริสา ก้าวที่สามดูว่าอริสาชอบทรงอะไรอีก คือยาวตรงแสกกลาง ถ้า P01 ยังไม่เคยชอบทรงนี้ ก็เป็นทรงที่แนะนำ ทรงที่ P01 ชอบอยู่แล้วจะถูกตัดออกด้วย NOT EXISTS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คะแนนมาจาก 4 สัญญาณ สัญญาณที่หนักสุดคือจำนวนคนที่ชอบคล้ายเรา คูณ 3 รองมาคือจำนวนทรงที่เราชอบที่เชื่อมมาถึงทรงนั้น คูณ 2 สองตัวหลังเป็นความนิยมโดยรวม คือจำนวนคนชอบ คูณ 0.2 และคะแนนเฉลี่ย คูณ 0.25 น้ำหนักตั้งตามโครงของงานอาจารย์ ที่ใช้ rating เต็ม 5 คูณ 0.5 ของผมคะแนนเต็ม 10 จึงใช้ 0.25 ข้อดีคือคนใหม่ที่ยังไม่ชอบอะไรเลย ก็ยังได้คำแนะนำจากทรงยอดนิยม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นี่คือผลจริงจากระบบ ของ P01 ณรงค์ศักดิ์ ที่ชอบอยู่แล้ว 3 ทรง คือยาวดัดลอน บ๊อบสั้น และดัดโครงสร้าง ระบบแนะนำ 3 อันดับแรกคือ ยาวตรงแสกกลาง ซอยสั้นแสกกลาง และบ๊อบยาว คะแนนสูสีกันมาก ทุกทรงมีคนที่ชอบคล้ายกัน 2 คนเหมือนกัน สไลด์ต่อไปจะแสดงว่าอันดับ 1 คำนวณได้ 12.77 อย่างไร</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อันดับ 1 ได้ 12.77 มาจาก คนที่ชอบคล้ายกัน 2 คน คือญาดาและอริสา คูณ 3 ได้ 6 ทรงที่เชื่อมมาถึง 2 ทรง คือยาวดัดลอนกับดัดโครงสร้าง คูณ 2 ได้ 4 มีคนชอบทั้งหมด 3 คน คูณ 0.2 ได้ 0.6 และคะแนนเฉลี่ย 8.67 คูณ 0.25 ได้ 2.17 รวม 12.77 ชนะอันดับ 2 ไปนิดเดียว เพราะคะแนนเฉลี่ยสูงกว่า ทุกตัวเลขตรวจกลับไปหาเส้นในกราฟได้ จึงเรียกว่าอธิบายได้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หน้าเว็บมี 7 เมนู Dashboard ดูภาพรวม Recommendations คือหน้าหลักที่แสดงทรงที่แนะนำพร้อมเหตุผล Style Search ค้นหาทรงผม Like Rate ให้ผู้ใช้กดชอบและให้คะแนน Manage Data คือส่วนที่อาจารย์ขอเพิ่ม เพิ่ม ลบ แก้ไขข้อมูล Graph Explorer วาดกราฟให้เห็นเส้นทาง และ Admin ใช้สร้างข้อมูลตั้งต้นกับบันทึกผลแนะนำลง Aura (ถ้ามีเวลา สาธิตหน้าเว็บจริงตรงนี้)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ส่วนเพิ่ม ลบ แก้ไข ที่อาจารย์ขอ เพิ่มข้อมูลใช้ MERGE กับ ON CREATE ถ้ารหัสซ้ำจะแจ้งเตือนไม่เขียนทับ ตอนเพิ่มคนใหม่เลือกทรงที่ชอบได้หลายทรงพร้อมคะแนน โดยใช้ UNWIND แตก list แล้ว MERGE เส้น LIKES ทีเดียว แก้ไขใช้ SET ส่วนลบใช้ DETACH DELETE เพราะ Neo4j ไม่ยอมลบ node ที่ยังมีเส้นติดอยู่ ทุก query ส่งค่าแบบ parameter เพื่อความปลอดภัย และกันรหัสซ้ำด้วย CREATE CONSTRAINT IS UNIQUE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อาจารย์ให้เพิ่มรูปทรงผมโดยเก็บไฟล์ใน git ผมจึงเก็บรูปในโฟลเดอร์ images ของ repo ตั้งชื่อตามรหัสทรง ส่วนใน Neo4j เก็บแค่ชื่อไฟล์ใน property image เพราะ Graph Database เหมาะกับความสัมพันธ์ ไม่เหมาะเก็บไฟล์ขนาดใหญ่ ข้อจำกัดคือบน Streamlit Cloud ไฟล์ที่อัปโหลดผ่านเว็บจะหายเมื่อแอปรีสตาร์ท จึงมีปุ่มดาวน์โหลด ให้นำไฟล์ไปใส่ images แล้ว push ขึ้น git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ตอนแรกผมสงสัยว่าทำไมใน Aura ไม่เห็นผลแนะนำ คำตอบคือผลแนะนำเป็นการคำนวณตอนรัน query ไม่ได้บันทึกลงฐานข้อมูล จึงเพิ่มปุ่มในหน้า Admin ที่คำนวณผลของทุกคนแล้วบันทึกเป็นเส้น RECOMMENDED พร้อมคะแนนและอันดับ จากนั้นรัน query นี้ใน Aura จะเห็นทั้งเส้นชอบและเส้นแนะนำ ถ้าข้อมูลความชอบเปลี่ยน ต้องกดบันทึกใหม่</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สรุปสิ่งที่ได้เรียนรู้ คือการออกแบบ Graph Model การเขียน Cypher ทั้งอ่าน เพิ่ม แก้ไข ลบ การทำระบบแนะนำที่อธิบายเหตุผลได้ และการ deploy ขึ้นคลาวด์จริง แนวทางต่อยอดคือเพิ่มหมวดของทรงผมเพื่อแนะนำตามความสนใจ ใช้อัลกอริทึม Node Similarity ของ Neo4j Graph Data Science และวัดความแม่นยำของการแนะนำด้วย Precision@K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ขอบคุณครับ มีคำถามเชิญได้เลยครับ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6.jpeg"/><Relationship Id="rId3" Type="http://schemas.openxmlformats.org/officeDocument/2006/relationships/image" Target="../media/image19.jpeg"/><Relationship Id="rId7" Type="http://schemas.openxmlformats.org/officeDocument/2006/relationships/image" Target="../media/image1.jpeg"/><Relationship Id="rId12"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jpeg"/><Relationship Id="rId11" Type="http://schemas.openxmlformats.org/officeDocument/2006/relationships/image" Target="../media/image2.jpeg"/><Relationship Id="rId5" Type="http://schemas.openxmlformats.org/officeDocument/2006/relationships/image" Target="../media/image20.jpeg"/><Relationship Id="rId10" Type="http://schemas.openxmlformats.org/officeDocument/2006/relationships/image" Target="../media/image24.jpeg"/><Relationship Id="rId4" Type="http://schemas.openxmlformats.org/officeDocument/2006/relationships/image" Target="../media/image3.jpeg"/><Relationship Id="rId9" Type="http://schemas.openxmlformats.org/officeDocument/2006/relationships/image" Target="../media/image23.jpeg"/><Relationship Id="rId1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jpeg"/><Relationship Id="rId7"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6.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2E"/>
        </a:solidFill>
        <a:effectLst/>
      </p:bgPr>
    </p:bg>
    <p:spTree>
      <p:nvGrpSpPr>
        <p:cNvPr id="1" name=""/>
        <p:cNvGrpSpPr/>
        <p:nvPr/>
      </p:nvGrpSpPr>
      <p:grpSpPr>
        <a:xfrm>
          <a:off x="0" y="0"/>
          <a:ext cx="0" cy="0"/>
          <a:chOff x="0" y="0"/>
          <a:chExt cx="0" cy="0"/>
        </a:xfrm>
      </p:grpSpPr>
      <p:sp>
        <p:nvSpPr>
          <p:cNvPr id="2" name="Text 0"/>
          <p:cNvSpPr/>
          <p:nvPr/>
        </p:nvSpPr>
        <p:spPr>
          <a:xfrm>
            <a:off x="812800" y="2167930"/>
            <a:ext cx="60695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9B6F2"/>
                </a:solidFill>
                <a:latin typeface="IBM Plex Sans Thai" pitchFamily="34" charset="0"/>
                <a:ea typeface="IBM Plex Sans Thai" pitchFamily="34" charset="-122"/>
                <a:cs typeface="IBM Plex Sans Thai" pitchFamily="34" charset="-120"/>
              </a:rPr>
              <a:t>โปรเจ็ค Graph Database · Neo4j Aura + Streamlit</a:t>
            </a:r>
            <a:endParaRPr lang="en-US" sz="1200" dirty="0"/>
          </a:p>
        </p:txBody>
      </p:sp>
      <p:sp>
        <p:nvSpPr>
          <p:cNvPr id="3" name="Text 1"/>
          <p:cNvSpPr/>
          <p:nvPr/>
        </p:nvSpPr>
        <p:spPr>
          <a:xfrm>
            <a:off x="812800" y="2584450"/>
            <a:ext cx="6069584"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F7F3EE"/>
                </a:solidFill>
                <a:latin typeface="Prompt" pitchFamily="34" charset="0"/>
                <a:ea typeface="Prompt" pitchFamily="34" charset="-122"/>
                <a:cs typeface="Prompt" pitchFamily="34" charset="-120"/>
              </a:rPr>
              <a:t>HairGraph</a:t>
            </a:r>
            <a:endParaRPr lang="en-US" sz="6000" dirty="0"/>
          </a:p>
        </p:txBody>
      </p:sp>
      <p:sp>
        <p:nvSpPr>
          <p:cNvPr id="4" name="Text 2"/>
          <p:cNvSpPr/>
          <p:nvPr/>
        </p:nvSpPr>
        <p:spPr>
          <a:xfrm>
            <a:off x="812800" y="3625850"/>
            <a:ext cx="6069584"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7F3EE"/>
                </a:solidFill>
                <a:latin typeface="Prompt" pitchFamily="34" charset="0"/>
                <a:ea typeface="Prompt" pitchFamily="34" charset="-122"/>
                <a:cs typeface="Prompt" pitchFamily="34" charset="-120"/>
              </a:rPr>
              <a:t>ระบบแนะนำทรงผม ที่อธิบายเหตุผลได้</a:t>
            </a:r>
            <a:endParaRPr lang="en-US" sz="2000" dirty="0"/>
          </a:p>
        </p:txBody>
      </p:sp>
      <p:sp>
        <p:nvSpPr>
          <p:cNvPr id="5" name="Text 3"/>
          <p:cNvSpPr/>
          <p:nvPr/>
        </p:nvSpPr>
        <p:spPr>
          <a:xfrm>
            <a:off x="812800" y="4159250"/>
            <a:ext cx="606958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3EE"/>
                </a:solidFill>
                <a:latin typeface="IBM Plex Sans Thai" pitchFamily="34" charset="0"/>
                <a:ea typeface="IBM Plex Sans Thai" pitchFamily="34" charset="-122"/>
                <a:cs typeface="IBM Plex Sans Thai" pitchFamily="34" charset="-120"/>
              </a:rPr>
              <a:t>ณรงค์ศักดิ์ ประเสริฐศิริสร · 664245033</a:t>
            </a:r>
            <a:endParaRPr lang="en-US" sz="1500" dirty="0"/>
          </a:p>
        </p:txBody>
      </p:sp>
      <p:sp>
        <p:nvSpPr>
          <p:cNvPr id="6" name="Text 4"/>
          <p:cNvSpPr/>
          <p:nvPr/>
        </p:nvSpPr>
        <p:spPr>
          <a:xfrm>
            <a:off x="812800" y="4476750"/>
            <a:ext cx="60695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DE"/>
                </a:solidFill>
                <a:latin typeface="IBM Plex Sans Thai" pitchFamily="34" charset="0"/>
                <a:ea typeface="IBM Plex Sans Thai" pitchFamily="34" charset="-122"/>
                <a:cs typeface="IBM Plex Sans Thai" pitchFamily="34" charset="-120"/>
              </a:rPr>
              <a:t>· สาขาวิชาวิทยาการคอมพิวเตอร์ มหาวิทยาลัยราชภัฏนครปฐม</a:t>
            </a:r>
            <a:endParaRPr lang="en-US" sz="1200" dirty="0"/>
          </a:p>
        </p:txBody>
      </p:sp>
      <p:pic>
        <p:nvPicPr>
          <p:cNvPr id="7" name="Image 0" descr="ทรงยาวดัดลอน"/>
          <p:cNvPicPr>
            <a:picLocks noChangeAspect="1"/>
          </p:cNvPicPr>
          <p:nvPr/>
        </p:nvPicPr>
        <p:blipFill>
          <a:blip r:embed="rId3"/>
          <a:srcRect/>
          <a:stretch/>
        </p:blipFill>
        <p:spPr>
          <a:xfrm>
            <a:off x="7315200" y="1397000"/>
            <a:ext cx="1968500" cy="1968500"/>
          </a:xfrm>
          <a:prstGeom prst="roundRect">
            <a:avLst>
              <a:gd name="adj" fmla="val 7742"/>
            </a:avLst>
          </a:prstGeom>
        </p:spPr>
      </p:pic>
      <p:pic>
        <p:nvPicPr>
          <p:cNvPr id="8" name="Image 1" descr="ทรงวูล์ฟคัท"/>
          <p:cNvPicPr>
            <a:picLocks noChangeAspect="1"/>
          </p:cNvPicPr>
          <p:nvPr/>
        </p:nvPicPr>
        <p:blipFill>
          <a:blip r:embed="rId4"/>
          <a:srcRect/>
          <a:stretch/>
        </p:blipFill>
        <p:spPr>
          <a:xfrm>
            <a:off x="9410700" y="1397000"/>
            <a:ext cx="1968500" cy="1968500"/>
          </a:xfrm>
          <a:prstGeom prst="roundRect">
            <a:avLst>
              <a:gd name="adj" fmla="val 7742"/>
            </a:avLst>
          </a:prstGeom>
        </p:spPr>
      </p:pic>
      <p:pic>
        <p:nvPicPr>
          <p:cNvPr id="9" name="Image 2" descr="ทรงบ๊อบสั้น"/>
          <p:cNvPicPr>
            <a:picLocks noChangeAspect="1"/>
          </p:cNvPicPr>
          <p:nvPr/>
        </p:nvPicPr>
        <p:blipFill>
          <a:blip r:embed="rId5"/>
          <a:srcRect/>
          <a:stretch/>
        </p:blipFill>
        <p:spPr>
          <a:xfrm>
            <a:off x="7315200" y="3492500"/>
            <a:ext cx="1968500" cy="1968500"/>
          </a:xfrm>
          <a:prstGeom prst="roundRect">
            <a:avLst>
              <a:gd name="adj" fmla="val 7742"/>
            </a:avLst>
          </a:prstGeom>
        </p:spPr>
      </p:pic>
      <p:pic>
        <p:nvPicPr>
          <p:cNvPr id="10" name="Image 3" descr="ทรงซอยสั้นแสกกลาง"/>
          <p:cNvPicPr>
            <a:picLocks noChangeAspect="1"/>
          </p:cNvPicPr>
          <p:nvPr/>
        </p:nvPicPr>
        <p:blipFill>
          <a:blip r:embed="rId6"/>
          <a:srcRect/>
          <a:stretch/>
        </p:blipFill>
        <p:spPr>
          <a:xfrm>
            <a:off x="9410700" y="3492500"/>
            <a:ext cx="1968500" cy="1968500"/>
          </a:xfrm>
          <a:prstGeom prst="roundRect">
            <a:avLst>
              <a:gd name="adj" fmla="val 7742"/>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01 · ที่มา</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ปัญหา: อยากเปลี่ยนทรงผม แต่ไม่รู้ว่าจะชอบทรงไหน</a:t>
            </a:r>
            <a:endParaRPr lang="en-US" sz="3200" dirty="0"/>
          </a:p>
        </p:txBody>
      </p:sp>
      <p:sp>
        <p:nvSpPr>
          <p:cNvPr id="4" name="Text 2"/>
          <p:cNvSpPr/>
          <p:nvPr/>
        </p:nvSpPr>
        <p:spPr>
          <a:xfrm>
            <a:off x="812800" y="3044230"/>
            <a:ext cx="10883392" cy="1081881"/>
          </a:xfrm>
          <a:prstGeom prst="rect">
            <a:avLst/>
          </a:prstGeom>
          <a:noFill/>
          <a:ln/>
        </p:spPr>
        <p:txBody>
          <a:bodyPr wrap="square" lIns="0" tIns="0" rIns="0" bIns="0" rtlCol="0" anchor="t">
            <a:normAutofit/>
          </a:bodyPr>
          <a:lstStyle/>
          <a:p>
            <a:pPr marL="0" indent="0" algn="l">
              <a:lnSpc>
                <a:spcPts val="4160"/>
              </a:lnSpc>
              <a:buNone/>
            </a:pPr>
            <a:r>
              <a:rPr lang="en-US" sz="3200" b="1" dirty="0">
                <a:solidFill>
                  <a:srgbClr val="6C4AB6"/>
                </a:solidFill>
                <a:latin typeface="Prompt" pitchFamily="34" charset="0"/>
                <a:ea typeface="Prompt" pitchFamily="34" charset="-122"/>
                <a:cs typeface="Prompt" pitchFamily="34" charset="-120"/>
              </a:rPr>
              <a:t>“คนที่ชอบทรงผม เหมือนกับเรา</a:t>
            </a:r>
            <a:endParaRPr lang="en-US" sz="3200" dirty="0"/>
          </a:p>
          <a:p>
            <a:pPr marL="0" indent="0" algn="l">
              <a:lnSpc>
                <a:spcPts val="4160"/>
              </a:lnSpc>
              <a:buNone/>
            </a:pPr>
            <a:r>
              <a:rPr lang="en-US" sz="3200" b="1" dirty="0">
                <a:solidFill>
                  <a:srgbClr val="6C4AB6"/>
                </a:solidFill>
                <a:latin typeface="Prompt" pitchFamily="34" charset="0"/>
                <a:ea typeface="Prompt" pitchFamily="34" charset="-122"/>
                <a:cs typeface="Prompt" pitchFamily="34" charset="-120"/>
              </a:rPr>
              <a:t>มักชอบทรงอื่น ที่เราน่าจะชอบด้วย”</a:t>
            </a:r>
            <a:endParaRPr lang="en-US" sz="3200" dirty="0"/>
          </a:p>
        </p:txBody>
      </p:sp>
      <p:sp>
        <p:nvSpPr>
          <p:cNvPr id="5" name="Text 3"/>
          <p:cNvSpPr/>
          <p:nvPr/>
        </p:nvSpPr>
        <p:spPr>
          <a:xfrm>
            <a:off x="812800" y="4354711"/>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5A5368"/>
                </a:solidFill>
                <a:latin typeface="IBM Plex Sans Thai" pitchFamily="34" charset="0"/>
                <a:ea typeface="IBM Plex Sans Thai" pitchFamily="34" charset="-122"/>
                <a:cs typeface="IBM Plex Sans Thai" pitchFamily="34" charset="-120"/>
              </a:rPr>
              <a:t>แนวคิดนี้เรียกว่า </a:t>
            </a:r>
            <a:r>
              <a:rPr lang="en-US" sz="1500" b="1" dirty="0">
                <a:solidFill>
                  <a:srgbClr val="5A5368"/>
                </a:solidFill>
                <a:latin typeface="IBM Plex Sans Thai" pitchFamily="34" charset="0"/>
                <a:ea typeface="IBM Plex Sans Thai" pitchFamily="34" charset="-122"/>
                <a:cs typeface="IBM Plex Sans Thai" pitchFamily="34" charset="-120"/>
              </a:rPr>
              <a:t>Collaborative Filtering</a:t>
            </a:r>
            <a:r>
              <a:rPr lang="en-US" sz="1500" dirty="0">
                <a:solidFill>
                  <a:srgbClr val="5A5368"/>
                </a:solidFill>
                <a:latin typeface="IBM Plex Sans Thai" pitchFamily="34" charset="0"/>
                <a:ea typeface="IBM Plex Sans Thai" pitchFamily="34" charset="-122"/>
                <a:cs typeface="IBM Plex Sans Thai" pitchFamily="34" charset="-120"/>
              </a:rPr>
              <a:t> และข้อมูลแบบ “ใครชอบอะไร”</a:t>
            </a:r>
            <a:endParaRPr lang="en-US" sz="1500" dirty="0"/>
          </a:p>
          <a:p>
            <a:pPr marL="0" indent="0" algn="l">
              <a:lnSpc>
                <a:spcPts val="2250"/>
              </a:lnSpc>
              <a:buNone/>
            </a:pPr>
            <a:r>
              <a:rPr lang="en-US" sz="1500" dirty="0">
                <a:solidFill>
                  <a:srgbClr val="5A5368"/>
                </a:solidFill>
                <a:latin typeface="IBM Plex Sans Thai" pitchFamily="34" charset="0"/>
                <a:ea typeface="IBM Plex Sans Thai" pitchFamily="34" charset="-122"/>
                <a:cs typeface="IBM Plex Sans Thai" pitchFamily="34" charset="-120"/>
              </a:rPr>
              <a:t>เป็นเครือข่ายความสัมพันธ์ จึงเก็บในรูป </a:t>
            </a:r>
            <a:r>
              <a:rPr lang="en-US" sz="1500" b="1" dirty="0">
                <a:solidFill>
                  <a:srgbClr val="5A5368"/>
                </a:solidFill>
                <a:latin typeface="IBM Plex Sans Thai" pitchFamily="34" charset="0"/>
                <a:ea typeface="IBM Plex Sans Thai" pitchFamily="34" charset="-122"/>
                <a:cs typeface="IBM Plex Sans Thai" pitchFamily="34" charset="-120"/>
              </a:rPr>
              <a:t>กราฟ</a:t>
            </a:r>
            <a:r>
              <a:rPr lang="en-US" sz="1500" dirty="0">
                <a:solidFill>
                  <a:srgbClr val="5A5368"/>
                </a:solidFill>
                <a:latin typeface="IBM Plex Sans Thai" pitchFamily="34" charset="0"/>
                <a:ea typeface="IBM Plex Sans Thai" pitchFamily="34" charset="-122"/>
                <a:cs typeface="IBM Plex Sans Thai" pitchFamily="34" charset="-120"/>
              </a:rPr>
              <a:t> ได้ตรงกับโจทย์ที่สุด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02 · เป้าหมาย</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สิ่งที่ระบบต้องทำได้</a:t>
            </a:r>
            <a:endParaRPr lang="en-US" sz="3200" dirty="0"/>
          </a:p>
        </p:txBody>
      </p:sp>
      <p:sp>
        <p:nvSpPr>
          <p:cNvPr id="4" name="Shape 2"/>
          <p:cNvSpPr/>
          <p:nvPr/>
        </p:nvSpPr>
        <p:spPr>
          <a:xfrm>
            <a:off x="815975" y="1928416"/>
            <a:ext cx="3380284" cy="2305050"/>
          </a:xfrm>
          <a:prstGeom prst="roundRect">
            <a:avLst>
              <a:gd name="adj" fmla="val 5372"/>
            </a:avLst>
          </a:prstGeom>
          <a:solidFill>
            <a:srgbClr val="FFFDF9"/>
          </a:solidFill>
          <a:ln w="6350">
            <a:solidFill>
              <a:srgbClr val="E4DBCF"/>
            </a:solidFill>
            <a:prstDash val="solid"/>
          </a:ln>
        </p:spPr>
      </p:sp>
      <p:pic>
        <p:nvPicPr>
          <p:cNvPr id="5" name="Image 0" descr="Database"/>
          <p:cNvPicPr>
            <a:picLocks noChangeAspect="1"/>
          </p:cNvPicPr>
          <p:nvPr/>
        </p:nvPicPr>
        <p:blipFill>
          <a:blip r:embed="rId3"/>
          <a:srcRect/>
          <a:stretch/>
        </p:blipFill>
        <p:spPr>
          <a:xfrm>
            <a:off x="1073150" y="2185591"/>
            <a:ext cx="406400" cy="406400"/>
          </a:xfrm>
          <a:prstGeom prst="rect">
            <a:avLst/>
          </a:prstGeom>
        </p:spPr>
      </p:pic>
      <p:sp>
        <p:nvSpPr>
          <p:cNvPr id="6" name="Text 3"/>
          <p:cNvSpPr/>
          <p:nvPr/>
        </p:nvSpPr>
        <p:spPr>
          <a:xfrm>
            <a:off x="1073150" y="269359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1A2E"/>
                </a:solidFill>
                <a:latin typeface="Prompt" pitchFamily="34" charset="0"/>
                <a:ea typeface="Prompt" pitchFamily="34" charset="-122"/>
                <a:cs typeface="Prompt" pitchFamily="34" charset="-120"/>
              </a:rPr>
              <a:t>เก็บความชอบ เป็นกราฟ</a:t>
            </a:r>
            <a:endParaRPr lang="en-US" sz="2000" dirty="0"/>
          </a:p>
        </p:txBody>
      </p:sp>
      <p:sp>
        <p:nvSpPr>
          <p:cNvPr id="7" name="Text 4"/>
          <p:cNvSpPr/>
          <p:nvPr/>
        </p:nvSpPr>
        <p:spPr>
          <a:xfrm>
            <a:off x="1073150" y="3099991"/>
            <a:ext cx="295191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5A5368"/>
                </a:solidFill>
                <a:latin typeface="IBM Plex Sans Thai" pitchFamily="34" charset="0"/>
                <a:ea typeface="IBM Plex Sans Thai" pitchFamily="34" charset="-122"/>
                <a:cs typeface="IBM Plex Sans Thai" pitchFamily="34" charset="-120"/>
              </a:rPr>
              <a:t>คน และ ทรงผม เป็น node ความชอบเป็นเส้น LIKES พร้อมคะแนน 1–10</a:t>
            </a:r>
            <a:endParaRPr lang="en-US" sz="1500" dirty="0"/>
          </a:p>
        </p:txBody>
      </p:sp>
      <p:sp>
        <p:nvSpPr>
          <p:cNvPr id="8" name="Shape 5"/>
          <p:cNvSpPr/>
          <p:nvPr/>
        </p:nvSpPr>
        <p:spPr>
          <a:xfrm>
            <a:off x="4405809" y="1928416"/>
            <a:ext cx="3380383" cy="2305050"/>
          </a:xfrm>
          <a:prstGeom prst="roundRect">
            <a:avLst>
              <a:gd name="adj" fmla="val 5372"/>
            </a:avLst>
          </a:prstGeom>
          <a:solidFill>
            <a:srgbClr val="FFFDF9"/>
          </a:solidFill>
          <a:ln w="6350">
            <a:solidFill>
              <a:srgbClr val="E4DBCF"/>
            </a:solidFill>
            <a:prstDash val="solid"/>
          </a:ln>
        </p:spPr>
      </p:sp>
      <p:pic>
        <p:nvPicPr>
          <p:cNvPr id="9" name="Image 1" descr="Lightbulb"/>
          <p:cNvPicPr>
            <a:picLocks noChangeAspect="1"/>
          </p:cNvPicPr>
          <p:nvPr/>
        </p:nvPicPr>
        <p:blipFill>
          <a:blip r:embed="rId4"/>
          <a:srcRect/>
          <a:stretch/>
        </p:blipFill>
        <p:spPr>
          <a:xfrm>
            <a:off x="4662984" y="2185591"/>
            <a:ext cx="406400" cy="406400"/>
          </a:xfrm>
          <a:prstGeom prst="rect">
            <a:avLst/>
          </a:prstGeom>
        </p:spPr>
      </p:pic>
      <p:sp>
        <p:nvSpPr>
          <p:cNvPr id="10" name="Text 6"/>
          <p:cNvSpPr/>
          <p:nvPr/>
        </p:nvSpPr>
        <p:spPr>
          <a:xfrm>
            <a:off x="4662984" y="2693591"/>
            <a:ext cx="2952014"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1A2E"/>
                </a:solidFill>
                <a:latin typeface="Prompt" pitchFamily="34" charset="0"/>
                <a:ea typeface="Prompt" pitchFamily="34" charset="-122"/>
                <a:cs typeface="Prompt" pitchFamily="34" charset="-120"/>
              </a:rPr>
              <a:t>แนะนำทรงใหม่ พร้อมเหตุผล</a:t>
            </a:r>
            <a:endParaRPr lang="en-US" sz="2000" dirty="0"/>
          </a:p>
        </p:txBody>
      </p:sp>
      <p:sp>
        <p:nvSpPr>
          <p:cNvPr id="11" name="Text 7"/>
          <p:cNvSpPr/>
          <p:nvPr/>
        </p:nvSpPr>
        <p:spPr>
          <a:xfrm>
            <a:off x="4662984" y="3404791"/>
            <a:ext cx="2952014"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5A5368"/>
                </a:solidFill>
                <a:latin typeface="IBM Plex Sans Thai" pitchFamily="34" charset="0"/>
                <a:ea typeface="IBM Plex Sans Thai" pitchFamily="34" charset="-122"/>
                <a:cs typeface="IBM Plex Sans Thai" pitchFamily="34" charset="-120"/>
              </a:rPr>
              <a:t>บอกได้ว่า แนะนำเพราะใคร ชอบทรงนี้ และเชื่อมมาจากทรงไหน ที่เราชอบ</a:t>
            </a:r>
            <a:endParaRPr lang="en-US" sz="1500" dirty="0"/>
          </a:p>
        </p:txBody>
      </p:sp>
      <p:sp>
        <p:nvSpPr>
          <p:cNvPr id="12" name="Shape 8"/>
          <p:cNvSpPr/>
          <p:nvPr/>
        </p:nvSpPr>
        <p:spPr>
          <a:xfrm>
            <a:off x="7995741" y="1928416"/>
            <a:ext cx="3380284" cy="2305050"/>
          </a:xfrm>
          <a:prstGeom prst="roundRect">
            <a:avLst>
              <a:gd name="adj" fmla="val 5372"/>
            </a:avLst>
          </a:prstGeom>
          <a:solidFill>
            <a:srgbClr val="FFFDF9"/>
          </a:solidFill>
          <a:ln w="6350">
            <a:solidFill>
              <a:srgbClr val="E4DBCF"/>
            </a:solidFill>
            <a:prstDash val="solid"/>
          </a:ln>
        </p:spPr>
      </p:sp>
      <p:pic>
        <p:nvPicPr>
          <p:cNvPr id="13" name="Image 2" descr="Tool"/>
          <p:cNvPicPr>
            <a:picLocks noChangeAspect="1"/>
          </p:cNvPicPr>
          <p:nvPr/>
        </p:nvPicPr>
        <p:blipFill>
          <a:blip r:embed="rId5"/>
          <a:srcRect/>
          <a:stretch/>
        </p:blipFill>
        <p:spPr>
          <a:xfrm>
            <a:off x="8252916" y="2185591"/>
            <a:ext cx="406400" cy="406400"/>
          </a:xfrm>
          <a:prstGeom prst="rect">
            <a:avLst/>
          </a:prstGeom>
        </p:spPr>
      </p:pic>
      <p:sp>
        <p:nvSpPr>
          <p:cNvPr id="14" name="Text 9"/>
          <p:cNvSpPr/>
          <p:nvPr/>
        </p:nvSpPr>
        <p:spPr>
          <a:xfrm>
            <a:off x="8252916" y="269359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1A2E"/>
                </a:solidFill>
                <a:latin typeface="Prompt" pitchFamily="34" charset="0"/>
                <a:ea typeface="Prompt" pitchFamily="34" charset="-122"/>
                <a:cs typeface="Prompt" pitchFamily="34" charset="-120"/>
              </a:rPr>
              <a:t>เว็บที่ เพิ่ม ลบ แก้ไข ได้</a:t>
            </a:r>
            <a:endParaRPr lang="en-US" sz="2000" dirty="0"/>
          </a:p>
        </p:txBody>
      </p:sp>
      <p:sp>
        <p:nvSpPr>
          <p:cNvPr id="15" name="Text 10"/>
          <p:cNvSpPr/>
          <p:nvPr/>
        </p:nvSpPr>
        <p:spPr>
          <a:xfrm>
            <a:off x="8252916" y="3099991"/>
            <a:ext cx="295191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5A5368"/>
                </a:solidFill>
                <a:latin typeface="IBM Plex Sans Thai" pitchFamily="34" charset="0"/>
                <a:ea typeface="IBM Plex Sans Thai" pitchFamily="34" charset="-122"/>
                <a:cs typeface="IBM Plex Sans Thai" pitchFamily="34" charset="-120"/>
              </a:rPr>
              <a:t>จัดการ คน ทรงผม และความชอบ ผ่านหน้าเว็บ พร้อมรูปทรงผมจริง</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03 · สถาปัตยกรรม</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ระบบแบ่งเป็น 3 ชั้น แยกหน้าเว็บ ออกจากฐานข้อมูล</a:t>
            </a:r>
            <a:endParaRPr lang="en-US" sz="3200" dirty="0"/>
          </a:p>
        </p:txBody>
      </p:sp>
      <p:sp>
        <p:nvSpPr>
          <p:cNvPr id="4" name="Shape 2"/>
          <p:cNvSpPr/>
          <p:nvPr/>
        </p:nvSpPr>
        <p:spPr>
          <a:xfrm>
            <a:off x="815975" y="2035076"/>
            <a:ext cx="2101850" cy="1349970"/>
          </a:xfrm>
          <a:prstGeom prst="roundRect">
            <a:avLst>
              <a:gd name="adj" fmla="val 9172"/>
            </a:avLst>
          </a:prstGeom>
          <a:solidFill>
            <a:srgbClr val="FFFDF9"/>
          </a:solidFill>
          <a:ln w="6350">
            <a:solidFill>
              <a:srgbClr val="E4DBCF"/>
            </a:solidFill>
            <a:prstDash val="solid"/>
          </a:ln>
        </p:spPr>
      </p:sp>
      <p:pic>
        <p:nvPicPr>
          <p:cNvPr id="5" name="Image 0" descr="Users"/>
          <p:cNvPicPr>
            <a:picLocks noChangeAspect="1"/>
          </p:cNvPicPr>
          <p:nvPr/>
        </p:nvPicPr>
        <p:blipFill>
          <a:blip r:embed="rId3"/>
          <a:srcRect/>
          <a:stretch/>
        </p:blipFill>
        <p:spPr>
          <a:xfrm>
            <a:off x="1022350" y="2241451"/>
            <a:ext cx="304800" cy="304800"/>
          </a:xfrm>
          <a:prstGeom prst="rect">
            <a:avLst/>
          </a:prstGeom>
        </p:spPr>
      </p:pic>
      <p:sp>
        <p:nvSpPr>
          <p:cNvPr id="6" name="Text 3"/>
          <p:cNvSpPr/>
          <p:nvPr/>
        </p:nvSpPr>
        <p:spPr>
          <a:xfrm>
            <a:off x="1022350" y="2622451"/>
            <a:ext cx="17399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ผู้ใช้</a:t>
            </a:r>
            <a:endParaRPr lang="en-US" sz="1500" dirty="0"/>
          </a:p>
        </p:txBody>
      </p:sp>
      <p:sp>
        <p:nvSpPr>
          <p:cNvPr id="7" name="Text 4"/>
          <p:cNvSpPr/>
          <p:nvPr/>
        </p:nvSpPr>
        <p:spPr>
          <a:xfrm>
            <a:off x="1022350" y="2965351"/>
            <a:ext cx="1739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เปิดเว็บ เลือกเมนู</a:t>
            </a:r>
            <a:endParaRPr lang="en-US" sz="1200" dirty="0"/>
          </a:p>
        </p:txBody>
      </p:sp>
      <p:pic>
        <p:nvPicPr>
          <p:cNvPr id="8" name="Image 1" descr="arrow-right"/>
          <p:cNvPicPr>
            <a:picLocks noChangeAspect="1"/>
          </p:cNvPicPr>
          <p:nvPr/>
        </p:nvPicPr>
        <p:blipFill>
          <a:blip r:embed="rId4"/>
          <a:srcRect/>
          <a:stretch/>
        </p:blipFill>
        <p:spPr>
          <a:xfrm>
            <a:off x="3073400" y="2608461"/>
            <a:ext cx="406400" cy="203200"/>
          </a:xfrm>
          <a:prstGeom prst="rect">
            <a:avLst/>
          </a:prstGeom>
        </p:spPr>
      </p:pic>
      <p:sp>
        <p:nvSpPr>
          <p:cNvPr id="9" name="Shape 5"/>
          <p:cNvSpPr/>
          <p:nvPr/>
        </p:nvSpPr>
        <p:spPr>
          <a:xfrm>
            <a:off x="3635375" y="2035076"/>
            <a:ext cx="2101850" cy="1349970"/>
          </a:xfrm>
          <a:prstGeom prst="roundRect">
            <a:avLst>
              <a:gd name="adj" fmla="val 9172"/>
            </a:avLst>
          </a:prstGeom>
          <a:solidFill>
            <a:srgbClr val="FFFDF9"/>
          </a:solidFill>
          <a:ln w="6350">
            <a:solidFill>
              <a:srgbClr val="E4DBCF"/>
            </a:solidFill>
            <a:prstDash val="solid"/>
          </a:ln>
        </p:spPr>
      </p:sp>
      <p:pic>
        <p:nvPicPr>
          <p:cNvPr id="10" name="Image 2" descr="Globe"/>
          <p:cNvPicPr>
            <a:picLocks noChangeAspect="1"/>
          </p:cNvPicPr>
          <p:nvPr/>
        </p:nvPicPr>
        <p:blipFill>
          <a:blip r:embed="rId5"/>
          <a:srcRect/>
          <a:stretch/>
        </p:blipFill>
        <p:spPr>
          <a:xfrm>
            <a:off x="3841750" y="2241451"/>
            <a:ext cx="304800" cy="304800"/>
          </a:xfrm>
          <a:prstGeom prst="rect">
            <a:avLst/>
          </a:prstGeom>
        </p:spPr>
      </p:pic>
      <p:sp>
        <p:nvSpPr>
          <p:cNvPr id="11" name="Text 6"/>
          <p:cNvSpPr/>
          <p:nvPr/>
        </p:nvSpPr>
        <p:spPr>
          <a:xfrm>
            <a:off x="3841750" y="2622451"/>
            <a:ext cx="17399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app.py</a:t>
            </a:r>
            <a:endParaRPr lang="en-US" sz="1500" dirty="0"/>
          </a:p>
        </p:txBody>
      </p:sp>
      <p:sp>
        <p:nvSpPr>
          <p:cNvPr id="12" name="Text 7"/>
          <p:cNvSpPr/>
          <p:nvPr/>
        </p:nvSpPr>
        <p:spPr>
          <a:xfrm>
            <a:off x="3841750" y="2965351"/>
            <a:ext cx="1739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Streamlit หน้าเว็บ 7 เมนู</a:t>
            </a:r>
            <a:endParaRPr lang="en-US" sz="1200" dirty="0"/>
          </a:p>
        </p:txBody>
      </p:sp>
      <p:pic>
        <p:nvPicPr>
          <p:cNvPr id="13" name="Image 3" descr="arrow-right"/>
          <p:cNvPicPr>
            <a:picLocks noChangeAspect="1"/>
          </p:cNvPicPr>
          <p:nvPr/>
        </p:nvPicPr>
        <p:blipFill>
          <a:blip r:embed="rId4"/>
          <a:srcRect/>
          <a:stretch/>
        </p:blipFill>
        <p:spPr>
          <a:xfrm>
            <a:off x="5892800" y="2608461"/>
            <a:ext cx="406400" cy="203200"/>
          </a:xfrm>
          <a:prstGeom prst="rect">
            <a:avLst/>
          </a:prstGeom>
        </p:spPr>
      </p:pic>
      <p:sp>
        <p:nvSpPr>
          <p:cNvPr id="14" name="Shape 8"/>
          <p:cNvSpPr/>
          <p:nvPr/>
        </p:nvSpPr>
        <p:spPr>
          <a:xfrm>
            <a:off x="6454775" y="2035076"/>
            <a:ext cx="2101850" cy="1349970"/>
          </a:xfrm>
          <a:prstGeom prst="roundRect">
            <a:avLst>
              <a:gd name="adj" fmla="val 9172"/>
            </a:avLst>
          </a:prstGeom>
          <a:solidFill>
            <a:srgbClr val="FFFDF9"/>
          </a:solidFill>
          <a:ln w="6350">
            <a:solidFill>
              <a:srgbClr val="E4DBCF"/>
            </a:solidFill>
            <a:prstDash val="solid"/>
          </a:ln>
        </p:spPr>
      </p:sp>
      <p:pic>
        <p:nvPicPr>
          <p:cNvPr id="15" name="Image 4" descr="Code"/>
          <p:cNvPicPr>
            <a:picLocks noChangeAspect="1"/>
          </p:cNvPicPr>
          <p:nvPr/>
        </p:nvPicPr>
        <p:blipFill>
          <a:blip r:embed="rId6"/>
          <a:srcRect/>
          <a:stretch/>
        </p:blipFill>
        <p:spPr>
          <a:xfrm>
            <a:off x="6661150" y="2241451"/>
            <a:ext cx="304800" cy="304800"/>
          </a:xfrm>
          <a:prstGeom prst="rect">
            <a:avLst/>
          </a:prstGeom>
        </p:spPr>
      </p:pic>
      <p:sp>
        <p:nvSpPr>
          <p:cNvPr id="16" name="Text 9"/>
          <p:cNvSpPr/>
          <p:nvPr/>
        </p:nvSpPr>
        <p:spPr>
          <a:xfrm>
            <a:off x="6661150" y="2622451"/>
            <a:ext cx="17399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neo4j_service.py</a:t>
            </a:r>
            <a:endParaRPr lang="en-US" sz="1500" dirty="0"/>
          </a:p>
        </p:txBody>
      </p:sp>
      <p:sp>
        <p:nvSpPr>
          <p:cNvPr id="17" name="Text 10"/>
          <p:cNvSpPr/>
          <p:nvPr/>
        </p:nvSpPr>
        <p:spPr>
          <a:xfrm>
            <a:off x="6661150" y="2965351"/>
            <a:ext cx="1739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รวมคำสั่ง Cypher ทั้งหมด</a:t>
            </a:r>
            <a:endParaRPr lang="en-US" sz="1200" dirty="0"/>
          </a:p>
        </p:txBody>
      </p:sp>
      <p:pic>
        <p:nvPicPr>
          <p:cNvPr id="18" name="Image 5" descr="arrow-right"/>
          <p:cNvPicPr>
            <a:picLocks noChangeAspect="1"/>
          </p:cNvPicPr>
          <p:nvPr/>
        </p:nvPicPr>
        <p:blipFill>
          <a:blip r:embed="rId4"/>
          <a:srcRect/>
          <a:stretch/>
        </p:blipFill>
        <p:spPr>
          <a:xfrm>
            <a:off x="8712200" y="2608461"/>
            <a:ext cx="406400" cy="203200"/>
          </a:xfrm>
          <a:prstGeom prst="rect">
            <a:avLst/>
          </a:prstGeom>
        </p:spPr>
      </p:pic>
      <p:sp>
        <p:nvSpPr>
          <p:cNvPr id="19" name="Shape 11"/>
          <p:cNvSpPr/>
          <p:nvPr/>
        </p:nvSpPr>
        <p:spPr>
          <a:xfrm>
            <a:off x="9274175" y="1928416"/>
            <a:ext cx="2101850" cy="1563291"/>
          </a:xfrm>
          <a:prstGeom prst="roundRect">
            <a:avLst>
              <a:gd name="adj" fmla="val 7921"/>
            </a:avLst>
          </a:prstGeom>
          <a:solidFill>
            <a:srgbClr val="FFFDF9"/>
          </a:solidFill>
          <a:ln w="6350">
            <a:solidFill>
              <a:srgbClr val="E4DBCF"/>
            </a:solidFill>
            <a:prstDash val="solid"/>
          </a:ln>
        </p:spPr>
      </p:sp>
      <p:pic>
        <p:nvPicPr>
          <p:cNvPr id="20" name="Image 6" descr="Database"/>
          <p:cNvPicPr>
            <a:picLocks noChangeAspect="1"/>
          </p:cNvPicPr>
          <p:nvPr/>
        </p:nvPicPr>
        <p:blipFill>
          <a:blip r:embed="rId7"/>
          <a:srcRect/>
          <a:stretch/>
        </p:blipFill>
        <p:spPr>
          <a:xfrm>
            <a:off x="9480550" y="2134791"/>
            <a:ext cx="304800" cy="304800"/>
          </a:xfrm>
          <a:prstGeom prst="rect">
            <a:avLst/>
          </a:prstGeom>
        </p:spPr>
      </p:pic>
      <p:sp>
        <p:nvSpPr>
          <p:cNvPr id="21" name="Text 12"/>
          <p:cNvSpPr/>
          <p:nvPr/>
        </p:nvSpPr>
        <p:spPr>
          <a:xfrm>
            <a:off x="9480550" y="2515791"/>
            <a:ext cx="17399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Neo4j AuraDB</a:t>
            </a:r>
            <a:endParaRPr lang="en-US" sz="1500" dirty="0"/>
          </a:p>
        </p:txBody>
      </p:sp>
      <p:sp>
        <p:nvSpPr>
          <p:cNvPr id="22" name="Text 13"/>
          <p:cNvSpPr/>
          <p:nvPr/>
        </p:nvSpPr>
        <p:spPr>
          <a:xfrm>
            <a:off x="9480550" y="2858691"/>
            <a:ext cx="17399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เก็บ node และ relationship บนคลาวด์</a:t>
            </a:r>
            <a:endParaRPr lang="en-US" sz="1200" dirty="0"/>
          </a:p>
        </p:txBody>
      </p:sp>
      <p:sp>
        <p:nvSpPr>
          <p:cNvPr id="23" name="Shape 14"/>
          <p:cNvSpPr/>
          <p:nvPr/>
        </p:nvSpPr>
        <p:spPr>
          <a:xfrm>
            <a:off x="815975" y="3858716"/>
            <a:ext cx="3041650" cy="1349970"/>
          </a:xfrm>
          <a:prstGeom prst="roundRect">
            <a:avLst>
              <a:gd name="adj" fmla="val 9172"/>
            </a:avLst>
          </a:prstGeom>
          <a:solidFill>
            <a:srgbClr val="FFFDF9"/>
          </a:solidFill>
          <a:ln w="6350">
            <a:solidFill>
              <a:srgbClr val="E4DBCF"/>
            </a:solidFill>
            <a:prstDash val="solid"/>
          </a:ln>
        </p:spPr>
      </p:sp>
      <p:pic>
        <p:nvPicPr>
          <p:cNvPr id="24" name="Image 7" descr="Cloud"/>
          <p:cNvPicPr>
            <a:picLocks noChangeAspect="1"/>
          </p:cNvPicPr>
          <p:nvPr/>
        </p:nvPicPr>
        <p:blipFill>
          <a:blip r:embed="rId8"/>
          <a:srcRect/>
          <a:stretch/>
        </p:blipFill>
        <p:spPr>
          <a:xfrm>
            <a:off x="1022350" y="4065091"/>
            <a:ext cx="304800" cy="304800"/>
          </a:xfrm>
          <a:prstGeom prst="rect">
            <a:avLst/>
          </a:prstGeom>
        </p:spPr>
      </p:pic>
      <p:sp>
        <p:nvSpPr>
          <p:cNvPr id="25" name="Text 15"/>
          <p:cNvSpPr/>
          <p:nvPr/>
        </p:nvSpPr>
        <p:spPr>
          <a:xfrm>
            <a:off x="1022350" y="4446091"/>
            <a:ext cx="270776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GitHub</a:t>
            </a:r>
            <a:endParaRPr lang="en-US" sz="1500" dirty="0"/>
          </a:p>
        </p:txBody>
      </p:sp>
      <p:sp>
        <p:nvSpPr>
          <p:cNvPr id="26" name="Text 16"/>
          <p:cNvSpPr/>
          <p:nvPr/>
        </p:nvSpPr>
        <p:spPr>
          <a:xfrm>
            <a:off x="1022350" y="4788991"/>
            <a:ext cx="27077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โค้ด + โฟลเดอร์ images/</a:t>
            </a:r>
            <a:endParaRPr lang="en-US" sz="1200" dirty="0"/>
          </a:p>
        </p:txBody>
      </p:sp>
      <p:pic>
        <p:nvPicPr>
          <p:cNvPr id="27" name="Image 8" descr="arrow-right"/>
          <p:cNvPicPr>
            <a:picLocks noChangeAspect="1"/>
          </p:cNvPicPr>
          <p:nvPr/>
        </p:nvPicPr>
        <p:blipFill>
          <a:blip r:embed="rId4"/>
          <a:srcRect/>
          <a:stretch/>
        </p:blipFill>
        <p:spPr>
          <a:xfrm>
            <a:off x="4013200" y="4432102"/>
            <a:ext cx="406400" cy="203200"/>
          </a:xfrm>
          <a:prstGeom prst="rect">
            <a:avLst/>
          </a:prstGeom>
        </p:spPr>
      </p:pic>
      <p:sp>
        <p:nvSpPr>
          <p:cNvPr id="28" name="Shape 17"/>
          <p:cNvSpPr/>
          <p:nvPr/>
        </p:nvSpPr>
        <p:spPr>
          <a:xfrm>
            <a:off x="4575175" y="3858716"/>
            <a:ext cx="3041650" cy="1349970"/>
          </a:xfrm>
          <a:prstGeom prst="roundRect">
            <a:avLst>
              <a:gd name="adj" fmla="val 9172"/>
            </a:avLst>
          </a:prstGeom>
          <a:solidFill>
            <a:srgbClr val="FFFDF9"/>
          </a:solidFill>
          <a:ln w="6350">
            <a:solidFill>
              <a:srgbClr val="E4DBCF"/>
            </a:solidFill>
            <a:prstDash val="solid"/>
          </a:ln>
        </p:spPr>
      </p:sp>
      <p:pic>
        <p:nvPicPr>
          <p:cNvPr id="29" name="Image 9" descr="Play"/>
          <p:cNvPicPr>
            <a:picLocks noChangeAspect="1"/>
          </p:cNvPicPr>
          <p:nvPr/>
        </p:nvPicPr>
        <p:blipFill>
          <a:blip r:embed="rId9"/>
          <a:srcRect/>
          <a:stretch/>
        </p:blipFill>
        <p:spPr>
          <a:xfrm>
            <a:off x="4781550" y="4065091"/>
            <a:ext cx="304800" cy="304800"/>
          </a:xfrm>
          <a:prstGeom prst="rect">
            <a:avLst/>
          </a:prstGeom>
        </p:spPr>
      </p:pic>
      <p:sp>
        <p:nvSpPr>
          <p:cNvPr id="30" name="Text 18"/>
          <p:cNvSpPr/>
          <p:nvPr/>
        </p:nvSpPr>
        <p:spPr>
          <a:xfrm>
            <a:off x="4781550" y="4446091"/>
            <a:ext cx="270776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Streamlit Cloud</a:t>
            </a:r>
            <a:endParaRPr lang="en-US" sz="1500" dirty="0"/>
          </a:p>
        </p:txBody>
      </p:sp>
      <p:sp>
        <p:nvSpPr>
          <p:cNvPr id="31" name="Text 19"/>
          <p:cNvSpPr/>
          <p:nvPr/>
        </p:nvSpPr>
        <p:spPr>
          <a:xfrm>
            <a:off x="4781550" y="4788991"/>
            <a:ext cx="27077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deploy เว็บจริง อัตโนมัติ</a:t>
            </a:r>
            <a:endParaRPr lang="en-US" sz="1200" dirty="0"/>
          </a:p>
        </p:txBody>
      </p:sp>
      <p:pic>
        <p:nvPicPr>
          <p:cNvPr id="32" name="Image 10" descr="arrow-left"/>
          <p:cNvPicPr>
            <a:picLocks noChangeAspect="1"/>
          </p:cNvPicPr>
          <p:nvPr/>
        </p:nvPicPr>
        <p:blipFill>
          <a:blip r:embed="rId10"/>
          <a:srcRect/>
          <a:stretch/>
        </p:blipFill>
        <p:spPr>
          <a:xfrm>
            <a:off x="7772400" y="4432102"/>
            <a:ext cx="406400" cy="203200"/>
          </a:xfrm>
          <a:prstGeom prst="rect">
            <a:avLst/>
          </a:prstGeom>
        </p:spPr>
      </p:pic>
      <p:sp>
        <p:nvSpPr>
          <p:cNvPr id="33" name="Shape 20"/>
          <p:cNvSpPr/>
          <p:nvPr/>
        </p:nvSpPr>
        <p:spPr>
          <a:xfrm>
            <a:off x="8334375" y="3752056"/>
            <a:ext cx="3041650" cy="1563291"/>
          </a:xfrm>
          <a:prstGeom prst="roundRect">
            <a:avLst>
              <a:gd name="adj" fmla="val 7921"/>
            </a:avLst>
          </a:prstGeom>
          <a:solidFill>
            <a:srgbClr val="FFFDF9"/>
          </a:solidFill>
          <a:ln w="6350">
            <a:solidFill>
              <a:srgbClr val="E4DBCF"/>
            </a:solidFill>
            <a:prstDash val="solid"/>
          </a:ln>
        </p:spPr>
      </p:sp>
      <p:pic>
        <p:nvPicPr>
          <p:cNvPr id="34" name="Image 11" descr="Lock"/>
          <p:cNvPicPr>
            <a:picLocks noChangeAspect="1"/>
          </p:cNvPicPr>
          <p:nvPr/>
        </p:nvPicPr>
        <p:blipFill>
          <a:blip r:embed="rId11"/>
          <a:srcRect/>
          <a:stretch/>
        </p:blipFill>
        <p:spPr>
          <a:xfrm>
            <a:off x="8540750" y="3958431"/>
            <a:ext cx="304800" cy="304800"/>
          </a:xfrm>
          <a:prstGeom prst="rect">
            <a:avLst/>
          </a:prstGeom>
        </p:spPr>
      </p:pic>
      <p:sp>
        <p:nvSpPr>
          <p:cNvPr id="35" name="Text 21"/>
          <p:cNvSpPr/>
          <p:nvPr/>
        </p:nvSpPr>
        <p:spPr>
          <a:xfrm>
            <a:off x="8540750" y="4339431"/>
            <a:ext cx="270776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Streamlit Secrets</a:t>
            </a:r>
            <a:endParaRPr lang="en-US" sz="1500" dirty="0"/>
          </a:p>
        </p:txBody>
      </p:sp>
      <p:sp>
        <p:nvSpPr>
          <p:cNvPr id="36" name="Text 22"/>
          <p:cNvSpPr/>
          <p:nvPr/>
        </p:nvSpPr>
        <p:spPr>
          <a:xfrm>
            <a:off x="8540750" y="4682331"/>
            <a:ext cx="27077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uri / username / password ไม่อยู่ใน GitHub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04 · Graph Model</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ข้อมูลมี 2 ชนิด node และ 2 ชนิดเส้น</a:t>
            </a:r>
            <a:endParaRPr lang="en-US" sz="3200" dirty="0"/>
          </a:p>
        </p:txBody>
      </p:sp>
      <p:sp>
        <p:nvSpPr>
          <p:cNvPr id="4" name="Shape 2"/>
          <p:cNvSpPr/>
          <p:nvPr/>
        </p:nvSpPr>
        <p:spPr>
          <a:xfrm>
            <a:off x="812800" y="2540000"/>
            <a:ext cx="1778000" cy="1778000"/>
          </a:xfrm>
          <a:prstGeom prst="roundRect">
            <a:avLst>
              <a:gd name="adj" fmla="val 50000"/>
            </a:avLst>
          </a:prstGeom>
          <a:solidFill>
            <a:srgbClr val="F2A07B"/>
          </a:solidFill>
          <a:ln/>
        </p:spPr>
      </p:sp>
      <p:sp>
        <p:nvSpPr>
          <p:cNvPr id="5" name="Text 3"/>
          <p:cNvSpPr/>
          <p:nvPr/>
        </p:nvSpPr>
        <p:spPr>
          <a:xfrm>
            <a:off x="1273870" y="3131840"/>
            <a:ext cx="90656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F1A2E"/>
                </a:solidFill>
                <a:latin typeface="Prompt" pitchFamily="34" charset="0"/>
                <a:ea typeface="Prompt" pitchFamily="34" charset="-122"/>
                <a:cs typeface="Prompt" pitchFamily="34" charset="-120"/>
              </a:rPr>
              <a:t>Person</a:t>
            </a:r>
            <a:endParaRPr lang="en-US" sz="2000" dirty="0"/>
          </a:p>
        </p:txBody>
      </p:sp>
      <p:sp>
        <p:nvSpPr>
          <p:cNvPr id="6" name="Text 4"/>
          <p:cNvSpPr/>
          <p:nvPr/>
        </p:nvSpPr>
        <p:spPr>
          <a:xfrm>
            <a:off x="1607145" y="3512840"/>
            <a:ext cx="2401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คน</a:t>
            </a:r>
            <a:endParaRPr lang="en-US" sz="1200" dirty="0"/>
          </a:p>
        </p:txBody>
      </p:sp>
      <p:sp>
        <p:nvSpPr>
          <p:cNvPr id="7" name="Shape 5"/>
          <p:cNvSpPr/>
          <p:nvPr/>
        </p:nvSpPr>
        <p:spPr>
          <a:xfrm>
            <a:off x="4368800" y="2540000"/>
            <a:ext cx="1778000" cy="1778000"/>
          </a:xfrm>
          <a:prstGeom prst="roundRect">
            <a:avLst>
              <a:gd name="adj" fmla="val 50000"/>
            </a:avLst>
          </a:prstGeom>
          <a:solidFill>
            <a:srgbClr val="A9DDB8"/>
          </a:solidFill>
          <a:ln/>
        </p:spPr>
      </p:sp>
      <p:sp>
        <p:nvSpPr>
          <p:cNvPr id="8" name="Text 6"/>
          <p:cNvSpPr/>
          <p:nvPr/>
        </p:nvSpPr>
        <p:spPr>
          <a:xfrm>
            <a:off x="4959052" y="3131840"/>
            <a:ext cx="64829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F1A2E"/>
                </a:solidFill>
                <a:latin typeface="Prompt" pitchFamily="34" charset="0"/>
                <a:ea typeface="Prompt" pitchFamily="34" charset="-122"/>
                <a:cs typeface="Prompt" pitchFamily="34" charset="-120"/>
              </a:rPr>
              <a:t>Style</a:t>
            </a:r>
            <a:endParaRPr lang="en-US" sz="2000" dirty="0"/>
          </a:p>
        </p:txBody>
      </p:sp>
      <p:sp>
        <p:nvSpPr>
          <p:cNvPr id="9" name="Text 7"/>
          <p:cNvSpPr/>
          <p:nvPr/>
        </p:nvSpPr>
        <p:spPr>
          <a:xfrm>
            <a:off x="5033268" y="3512840"/>
            <a:ext cx="4998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ทรงผม</a:t>
            </a:r>
            <a:endParaRPr lang="en-US" sz="1200" dirty="0"/>
          </a:p>
        </p:txBody>
      </p:sp>
      <p:pic>
        <p:nvPicPr>
          <p:cNvPr id="10" name="Image 0" descr="connector"/>
          <p:cNvPicPr>
            <a:picLocks noChangeAspect="1"/>
          </p:cNvPicPr>
          <p:nvPr/>
        </p:nvPicPr>
        <p:blipFill>
          <a:blip r:embed="rId3"/>
          <a:srcRect/>
          <a:stretch/>
        </p:blipFill>
        <p:spPr>
          <a:xfrm>
            <a:off x="2514600" y="3124200"/>
            <a:ext cx="1930400" cy="101600"/>
          </a:xfrm>
          <a:prstGeom prst="rect">
            <a:avLst/>
          </a:prstGeom>
        </p:spPr>
      </p:pic>
      <p:sp>
        <p:nvSpPr>
          <p:cNvPr id="11" name="Text 8"/>
          <p:cNvSpPr/>
          <p:nvPr/>
        </p:nvSpPr>
        <p:spPr>
          <a:xfrm>
            <a:off x="2564130" y="2844800"/>
            <a:ext cx="183134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LIKES {score}</a:t>
            </a:r>
            <a:endParaRPr lang="en-US" sz="1200" dirty="0"/>
          </a:p>
        </p:txBody>
      </p:sp>
      <p:pic>
        <p:nvPicPr>
          <p:cNvPr id="12" name="Image 1" descr="connector"/>
          <p:cNvPicPr>
            <a:picLocks noChangeAspect="1"/>
          </p:cNvPicPr>
          <p:nvPr/>
        </p:nvPicPr>
        <p:blipFill>
          <a:blip r:embed="rId4"/>
          <a:srcRect/>
          <a:stretch/>
        </p:blipFill>
        <p:spPr>
          <a:xfrm>
            <a:off x="2463800" y="3759200"/>
            <a:ext cx="2032000" cy="101600"/>
          </a:xfrm>
          <a:prstGeom prst="rect">
            <a:avLst/>
          </a:prstGeom>
        </p:spPr>
      </p:pic>
      <p:sp>
        <p:nvSpPr>
          <p:cNvPr id="13" name="Text 9"/>
          <p:cNvSpPr/>
          <p:nvPr/>
        </p:nvSpPr>
        <p:spPr>
          <a:xfrm>
            <a:off x="2498725" y="3886200"/>
            <a:ext cx="19621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RECOMMENDED</a:t>
            </a:r>
            <a:endParaRPr lang="en-US" sz="1200" dirty="0"/>
          </a:p>
        </p:txBody>
      </p:sp>
      <p:sp>
        <p:nvSpPr>
          <p:cNvPr id="14" name="Text 10"/>
          <p:cNvSpPr/>
          <p:nvPr/>
        </p:nvSpPr>
        <p:spPr>
          <a:xfrm>
            <a:off x="812800" y="4699000"/>
            <a:ext cx="5494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JetBrains Mono" pitchFamily="34" charset="0"/>
                <a:ea typeface="JetBrains Mono" pitchFamily="34" charset="-122"/>
                <a:cs typeface="JetBrains Mono" pitchFamily="34" charset="-120"/>
              </a:rPr>
              <a:t>(P01)-[:LIKES {score: 9}]-&gt;(H05)</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16700" y="2552700"/>
          <a:ext cx="4762500" cy="2302868"/>
        </p:xfrm>
        <a:graphic>
          <a:graphicData uri="http://schemas.openxmlformats.org/drawingml/2006/table">
            <a:tbl>
              <a:tblPr/>
              <a:tblGrid>
                <a:gridCol w="14287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ส่วน</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property</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ความหมาย</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Person</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person_id, name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ผู้ใช้ P01–P15</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Style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style_id, name, image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ทรงผม H01–H12 + ชื่อไฟล์รูป</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LIKES</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score (1–10)</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คนนี้ ชอบทรงนี้ มากแค่ไหน</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RECOMMENDED</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score, rank</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ผลแนะนำ ที่บันทึกลง Aura</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215366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05 · ข้อมูล</a:t>
            </a:r>
            <a:endParaRPr lang="en-US" sz="1200" dirty="0"/>
          </a:p>
        </p:txBody>
      </p:sp>
      <p:sp>
        <p:nvSpPr>
          <p:cNvPr id="3" name="Text 1"/>
          <p:cNvSpPr/>
          <p:nvPr/>
        </p:nvSpPr>
        <p:spPr>
          <a:xfrm>
            <a:off x="812800" y="1102320"/>
            <a:ext cx="2153664"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ข้อมูลตั้งต้น</a:t>
            </a:r>
            <a:endParaRPr lang="en-US" sz="3200" dirty="0"/>
          </a:p>
        </p:txBody>
      </p:sp>
      <p:sp>
        <p:nvSpPr>
          <p:cNvPr id="4" name="Text 2"/>
          <p:cNvSpPr/>
          <p:nvPr/>
        </p:nvSpPr>
        <p:spPr>
          <a:xfrm>
            <a:off x="7625060" y="1000720"/>
            <a:ext cx="440134"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6C4AB6"/>
                </a:solidFill>
                <a:latin typeface="Prompt" pitchFamily="34" charset="0"/>
                <a:ea typeface="Prompt" pitchFamily="34" charset="-122"/>
                <a:cs typeface="Prompt" pitchFamily="34" charset="-120"/>
              </a:rPr>
              <a:t>15</a:t>
            </a:r>
            <a:endParaRPr lang="en-US" sz="3200" dirty="0"/>
          </a:p>
        </p:txBody>
      </p:sp>
      <p:sp>
        <p:nvSpPr>
          <p:cNvPr id="5" name="Text 3"/>
          <p:cNvSpPr/>
          <p:nvPr/>
        </p:nvSpPr>
        <p:spPr>
          <a:xfrm>
            <a:off x="8090595" y="1235670"/>
            <a:ext cx="28743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5368"/>
                </a:solidFill>
                <a:latin typeface="IBM Plex Sans Thai" pitchFamily="34" charset="0"/>
                <a:ea typeface="IBM Plex Sans Thai" pitchFamily="34" charset="-122"/>
                <a:cs typeface="IBM Plex Sans Thai" pitchFamily="34" charset="-120"/>
              </a:rPr>
              <a:t>คน</a:t>
            </a:r>
            <a:endParaRPr lang="en-US" sz="1500" dirty="0"/>
          </a:p>
        </p:txBody>
      </p:sp>
      <p:sp>
        <p:nvSpPr>
          <p:cNvPr id="6" name="Text 4"/>
          <p:cNvSpPr/>
          <p:nvPr/>
        </p:nvSpPr>
        <p:spPr>
          <a:xfrm>
            <a:off x="8632031" y="1000720"/>
            <a:ext cx="44261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6C4AB6"/>
                </a:solidFill>
                <a:latin typeface="Prompt" pitchFamily="34" charset="0"/>
                <a:ea typeface="Prompt" pitchFamily="34" charset="-122"/>
                <a:cs typeface="Prompt" pitchFamily="34" charset="-120"/>
              </a:rPr>
              <a:t>12</a:t>
            </a:r>
            <a:endParaRPr lang="en-US" sz="3200" dirty="0"/>
          </a:p>
        </p:txBody>
      </p:sp>
      <p:sp>
        <p:nvSpPr>
          <p:cNvPr id="7" name="Text 5"/>
          <p:cNvSpPr/>
          <p:nvPr/>
        </p:nvSpPr>
        <p:spPr>
          <a:xfrm>
            <a:off x="9100046" y="1235670"/>
            <a:ext cx="61208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5368"/>
                </a:solidFill>
                <a:latin typeface="IBM Plex Sans Thai" pitchFamily="34" charset="0"/>
                <a:ea typeface="IBM Plex Sans Thai" pitchFamily="34" charset="-122"/>
                <a:cs typeface="IBM Plex Sans Thai" pitchFamily="34" charset="-120"/>
              </a:rPr>
              <a:t>ทรงผม</a:t>
            </a:r>
            <a:endParaRPr lang="en-US" sz="1500" dirty="0"/>
          </a:p>
        </p:txBody>
      </p:sp>
      <p:sp>
        <p:nvSpPr>
          <p:cNvPr id="8" name="Text 6"/>
          <p:cNvSpPr/>
          <p:nvPr/>
        </p:nvSpPr>
        <p:spPr>
          <a:xfrm>
            <a:off x="9966127" y="1000720"/>
            <a:ext cx="536079"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6C4AB6"/>
                </a:solidFill>
                <a:latin typeface="Prompt" pitchFamily="34" charset="0"/>
                <a:ea typeface="Prompt" pitchFamily="34" charset="-122"/>
                <a:cs typeface="Prompt" pitchFamily="34" charset="-120"/>
              </a:rPr>
              <a:t>38</a:t>
            </a:r>
            <a:endParaRPr lang="en-US" sz="3200" dirty="0"/>
          </a:p>
        </p:txBody>
      </p:sp>
      <p:sp>
        <p:nvSpPr>
          <p:cNvPr id="9" name="Text 7"/>
          <p:cNvSpPr/>
          <p:nvPr/>
        </p:nvSpPr>
        <p:spPr>
          <a:xfrm>
            <a:off x="10527605" y="1235670"/>
            <a:ext cx="90239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5368"/>
                </a:solidFill>
                <a:latin typeface="IBM Plex Sans Thai" pitchFamily="34" charset="0"/>
                <a:ea typeface="IBM Plex Sans Thai" pitchFamily="34" charset="-122"/>
                <a:cs typeface="IBM Plex Sans Thai" pitchFamily="34" charset="-120"/>
              </a:rPr>
              <a:t>เส้น LIKES</a:t>
            </a:r>
            <a:endParaRPr lang="en-US" sz="1500" dirty="0"/>
          </a:p>
        </p:txBody>
      </p:sp>
      <p:pic>
        <p:nvPicPr>
          <p:cNvPr id="10" name="Image 0" descr="ซอยสั้นเลเยอร์"/>
          <p:cNvPicPr>
            <a:picLocks noChangeAspect="1"/>
          </p:cNvPicPr>
          <p:nvPr/>
        </p:nvPicPr>
        <p:blipFill>
          <a:blip r:embed="rId3"/>
          <a:srcRect t="10938" b="10938"/>
          <a:stretch/>
        </p:blipFill>
        <p:spPr>
          <a:xfrm>
            <a:off x="812800" y="1823641"/>
            <a:ext cx="1625600" cy="1270000"/>
          </a:xfrm>
          <a:prstGeom prst="roundRect">
            <a:avLst>
              <a:gd name="adj" fmla="val 8000"/>
            </a:avLst>
          </a:prstGeom>
        </p:spPr>
      </p:pic>
      <p:sp>
        <p:nvSpPr>
          <p:cNvPr id="11" name="Text 8"/>
          <p:cNvSpPr/>
          <p:nvPr/>
        </p:nvSpPr>
        <p:spPr>
          <a:xfrm>
            <a:off x="812800" y="314444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H01</a:t>
            </a:r>
            <a:r>
              <a:rPr lang="en-US" sz="1200" dirty="0">
                <a:solidFill>
                  <a:srgbClr val="1F1A2E"/>
                </a:solidFill>
                <a:latin typeface="IBM Plex Sans Thai" pitchFamily="34" charset="0"/>
                <a:ea typeface="IBM Plex Sans Thai" pitchFamily="34" charset="-122"/>
                <a:cs typeface="IBM Plex Sans Thai" pitchFamily="34" charset="-120"/>
              </a:rPr>
              <a:t> ซอยสั้นเลเยอร์</a:t>
            </a:r>
            <a:endParaRPr lang="en-US" sz="1200" dirty="0"/>
          </a:p>
        </p:txBody>
      </p:sp>
      <p:pic>
        <p:nvPicPr>
          <p:cNvPr id="12" name="Image 1" descr="บ๊อบสั้น"/>
          <p:cNvPicPr>
            <a:picLocks noChangeAspect="1"/>
          </p:cNvPicPr>
          <p:nvPr/>
        </p:nvPicPr>
        <p:blipFill>
          <a:blip r:embed="rId4"/>
          <a:srcRect t="10938" b="10938"/>
          <a:stretch/>
        </p:blipFill>
        <p:spPr>
          <a:xfrm>
            <a:off x="2599234" y="1823641"/>
            <a:ext cx="1625600" cy="1270000"/>
          </a:xfrm>
          <a:prstGeom prst="roundRect">
            <a:avLst>
              <a:gd name="adj" fmla="val 8000"/>
            </a:avLst>
          </a:prstGeom>
        </p:spPr>
      </p:pic>
      <p:sp>
        <p:nvSpPr>
          <p:cNvPr id="13" name="Text 9"/>
          <p:cNvSpPr/>
          <p:nvPr/>
        </p:nvSpPr>
        <p:spPr>
          <a:xfrm>
            <a:off x="2599234" y="314444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H02</a:t>
            </a:r>
            <a:r>
              <a:rPr lang="en-US" sz="1200" dirty="0">
                <a:solidFill>
                  <a:srgbClr val="1F1A2E"/>
                </a:solidFill>
                <a:latin typeface="IBM Plex Sans Thai" pitchFamily="34" charset="0"/>
                <a:ea typeface="IBM Plex Sans Thai" pitchFamily="34" charset="-122"/>
                <a:cs typeface="IBM Plex Sans Thai" pitchFamily="34" charset="-120"/>
              </a:rPr>
              <a:t> บ๊อบสั้น</a:t>
            </a:r>
            <a:endParaRPr lang="en-US" sz="1200" dirty="0"/>
          </a:p>
        </p:txBody>
      </p:sp>
      <p:pic>
        <p:nvPicPr>
          <p:cNvPr id="14" name="Image 2" descr="บ๊อบยาว (Lob)"/>
          <p:cNvPicPr>
            <a:picLocks noChangeAspect="1"/>
          </p:cNvPicPr>
          <p:nvPr/>
        </p:nvPicPr>
        <p:blipFill>
          <a:blip r:embed="rId5"/>
          <a:srcRect t="10938" b="10938"/>
          <a:stretch/>
        </p:blipFill>
        <p:spPr>
          <a:xfrm>
            <a:off x="4385667" y="1823641"/>
            <a:ext cx="1625600" cy="1270000"/>
          </a:xfrm>
          <a:prstGeom prst="roundRect">
            <a:avLst>
              <a:gd name="adj" fmla="val 8000"/>
            </a:avLst>
          </a:prstGeom>
        </p:spPr>
      </p:pic>
      <p:sp>
        <p:nvSpPr>
          <p:cNvPr id="15" name="Text 10"/>
          <p:cNvSpPr/>
          <p:nvPr/>
        </p:nvSpPr>
        <p:spPr>
          <a:xfrm>
            <a:off x="4385667" y="3144441"/>
            <a:ext cx="1684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H03</a:t>
            </a:r>
            <a:r>
              <a:rPr lang="en-US" sz="1200" dirty="0">
                <a:solidFill>
                  <a:srgbClr val="1F1A2E"/>
                </a:solidFill>
                <a:latin typeface="IBM Plex Sans Thai" pitchFamily="34" charset="0"/>
                <a:ea typeface="IBM Plex Sans Thai" pitchFamily="34" charset="-122"/>
                <a:cs typeface="IBM Plex Sans Thai" pitchFamily="34" charset="-120"/>
              </a:rPr>
              <a:t> บ๊อบยาว (Lob)</a:t>
            </a:r>
            <a:endParaRPr lang="en-US" sz="1200" dirty="0"/>
          </a:p>
        </p:txBody>
      </p:sp>
      <p:pic>
        <p:nvPicPr>
          <p:cNvPr id="16" name="Image 3" descr="ยาวตรงแสกกลาง"/>
          <p:cNvPicPr>
            <a:picLocks noChangeAspect="1"/>
          </p:cNvPicPr>
          <p:nvPr/>
        </p:nvPicPr>
        <p:blipFill>
          <a:blip r:embed="rId6"/>
          <a:srcRect t="10938" b="10938"/>
          <a:stretch/>
        </p:blipFill>
        <p:spPr>
          <a:xfrm>
            <a:off x="6172200" y="1823641"/>
            <a:ext cx="1625600" cy="1270000"/>
          </a:xfrm>
          <a:prstGeom prst="roundRect">
            <a:avLst>
              <a:gd name="adj" fmla="val 8000"/>
            </a:avLst>
          </a:prstGeom>
        </p:spPr>
      </p:pic>
      <p:sp>
        <p:nvSpPr>
          <p:cNvPr id="17" name="Text 11"/>
          <p:cNvSpPr/>
          <p:nvPr/>
        </p:nvSpPr>
        <p:spPr>
          <a:xfrm>
            <a:off x="6172200" y="314444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H04</a:t>
            </a:r>
            <a:r>
              <a:rPr lang="en-US" sz="1200" dirty="0">
                <a:solidFill>
                  <a:srgbClr val="1F1A2E"/>
                </a:solidFill>
                <a:latin typeface="IBM Plex Sans Thai" pitchFamily="34" charset="0"/>
                <a:ea typeface="IBM Plex Sans Thai" pitchFamily="34" charset="-122"/>
                <a:cs typeface="IBM Plex Sans Thai" pitchFamily="34" charset="-120"/>
              </a:rPr>
              <a:t> ยาวตรงแสกกลาง</a:t>
            </a:r>
            <a:endParaRPr lang="en-US" sz="1200" dirty="0"/>
          </a:p>
        </p:txBody>
      </p:sp>
      <p:pic>
        <p:nvPicPr>
          <p:cNvPr id="18" name="Image 4" descr="ยาวดัดลอน"/>
          <p:cNvPicPr>
            <a:picLocks noChangeAspect="1"/>
          </p:cNvPicPr>
          <p:nvPr/>
        </p:nvPicPr>
        <p:blipFill>
          <a:blip r:embed="rId7"/>
          <a:srcRect t="10938" b="10938"/>
          <a:stretch/>
        </p:blipFill>
        <p:spPr>
          <a:xfrm>
            <a:off x="7958634" y="1823641"/>
            <a:ext cx="1625600" cy="1270000"/>
          </a:xfrm>
          <a:prstGeom prst="roundRect">
            <a:avLst>
              <a:gd name="adj" fmla="val 8000"/>
            </a:avLst>
          </a:prstGeom>
        </p:spPr>
      </p:pic>
      <p:sp>
        <p:nvSpPr>
          <p:cNvPr id="19" name="Text 12"/>
          <p:cNvSpPr/>
          <p:nvPr/>
        </p:nvSpPr>
        <p:spPr>
          <a:xfrm>
            <a:off x="7958634" y="314444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H05</a:t>
            </a:r>
            <a:r>
              <a:rPr lang="en-US" sz="1200" dirty="0">
                <a:solidFill>
                  <a:srgbClr val="1F1A2E"/>
                </a:solidFill>
                <a:latin typeface="IBM Plex Sans Thai" pitchFamily="34" charset="0"/>
                <a:ea typeface="IBM Plex Sans Thai" pitchFamily="34" charset="-122"/>
                <a:cs typeface="IBM Plex Sans Thai" pitchFamily="34" charset="-120"/>
              </a:rPr>
              <a:t> ยาวดัดลอน</a:t>
            </a:r>
            <a:endParaRPr lang="en-US" sz="1200" dirty="0"/>
          </a:p>
        </p:txBody>
      </p:sp>
      <p:pic>
        <p:nvPicPr>
          <p:cNvPr id="20" name="Image 5" descr="หน้าม้าซีทรู"/>
          <p:cNvPicPr>
            <a:picLocks noChangeAspect="1"/>
          </p:cNvPicPr>
          <p:nvPr/>
        </p:nvPicPr>
        <p:blipFill>
          <a:blip r:embed="rId8"/>
          <a:srcRect t="10938" b="10938"/>
          <a:stretch/>
        </p:blipFill>
        <p:spPr>
          <a:xfrm>
            <a:off x="9745067" y="1823641"/>
            <a:ext cx="1625600" cy="1270000"/>
          </a:xfrm>
          <a:prstGeom prst="roundRect">
            <a:avLst>
              <a:gd name="adj" fmla="val 8000"/>
            </a:avLst>
          </a:prstGeom>
        </p:spPr>
      </p:pic>
      <p:sp>
        <p:nvSpPr>
          <p:cNvPr id="21" name="Text 13"/>
          <p:cNvSpPr/>
          <p:nvPr/>
        </p:nvSpPr>
        <p:spPr>
          <a:xfrm>
            <a:off x="9745067" y="3144441"/>
            <a:ext cx="1684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H06</a:t>
            </a:r>
            <a:r>
              <a:rPr lang="en-US" sz="1200" dirty="0">
                <a:solidFill>
                  <a:srgbClr val="1F1A2E"/>
                </a:solidFill>
                <a:latin typeface="IBM Plex Sans Thai" pitchFamily="34" charset="0"/>
                <a:ea typeface="IBM Plex Sans Thai" pitchFamily="34" charset="-122"/>
                <a:cs typeface="IBM Plex Sans Thai" pitchFamily="34" charset="-120"/>
              </a:rPr>
              <a:t> หน้าม้าซีทรู</a:t>
            </a:r>
            <a:endParaRPr lang="en-US" sz="1200" dirty="0"/>
          </a:p>
        </p:txBody>
      </p:sp>
      <p:pic>
        <p:nvPicPr>
          <p:cNvPr id="22" name="Image 6" descr="รองทรงสูง"/>
          <p:cNvPicPr>
            <a:picLocks noChangeAspect="1"/>
          </p:cNvPicPr>
          <p:nvPr/>
        </p:nvPicPr>
        <p:blipFill>
          <a:blip r:embed="rId9"/>
          <a:srcRect t="10938" b="10938"/>
          <a:stretch/>
        </p:blipFill>
        <p:spPr>
          <a:xfrm>
            <a:off x="812800" y="3510161"/>
            <a:ext cx="1625600" cy="1270000"/>
          </a:xfrm>
          <a:prstGeom prst="roundRect">
            <a:avLst>
              <a:gd name="adj" fmla="val 8000"/>
            </a:avLst>
          </a:prstGeom>
        </p:spPr>
      </p:pic>
      <p:sp>
        <p:nvSpPr>
          <p:cNvPr id="23" name="Text 14"/>
          <p:cNvSpPr/>
          <p:nvPr/>
        </p:nvSpPr>
        <p:spPr>
          <a:xfrm>
            <a:off x="812800" y="483096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H07</a:t>
            </a:r>
            <a:r>
              <a:rPr lang="en-US" sz="1200" dirty="0">
                <a:solidFill>
                  <a:srgbClr val="1F1A2E"/>
                </a:solidFill>
                <a:latin typeface="IBM Plex Sans Thai" pitchFamily="34" charset="0"/>
                <a:ea typeface="IBM Plex Sans Thai" pitchFamily="34" charset="-122"/>
                <a:cs typeface="IBM Plex Sans Thai" pitchFamily="34" charset="-120"/>
              </a:rPr>
              <a:t> รองทรงสูง</a:t>
            </a:r>
            <a:endParaRPr lang="en-US" sz="1200" dirty="0"/>
          </a:p>
        </p:txBody>
      </p:sp>
      <p:pic>
        <p:nvPicPr>
          <p:cNvPr id="24" name="Image 7" descr="เกรียนสั้น"/>
          <p:cNvPicPr>
            <a:picLocks noChangeAspect="1"/>
          </p:cNvPicPr>
          <p:nvPr/>
        </p:nvPicPr>
        <p:blipFill>
          <a:blip r:embed="rId10"/>
          <a:srcRect t="10938" b="10938"/>
          <a:stretch/>
        </p:blipFill>
        <p:spPr>
          <a:xfrm>
            <a:off x="2599234" y="3510161"/>
            <a:ext cx="1625600" cy="1270000"/>
          </a:xfrm>
          <a:prstGeom prst="roundRect">
            <a:avLst>
              <a:gd name="adj" fmla="val 8000"/>
            </a:avLst>
          </a:prstGeom>
        </p:spPr>
      </p:pic>
      <p:sp>
        <p:nvSpPr>
          <p:cNvPr id="25" name="Text 15"/>
          <p:cNvSpPr/>
          <p:nvPr/>
        </p:nvSpPr>
        <p:spPr>
          <a:xfrm>
            <a:off x="2599234" y="483096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H08</a:t>
            </a:r>
            <a:r>
              <a:rPr lang="en-US" sz="1200" dirty="0">
                <a:solidFill>
                  <a:srgbClr val="1F1A2E"/>
                </a:solidFill>
                <a:latin typeface="IBM Plex Sans Thai" pitchFamily="34" charset="0"/>
                <a:ea typeface="IBM Plex Sans Thai" pitchFamily="34" charset="-122"/>
                <a:cs typeface="IBM Plex Sans Thai" pitchFamily="34" charset="-120"/>
              </a:rPr>
              <a:t> เกรียนสั้น</a:t>
            </a:r>
            <a:endParaRPr lang="en-US" sz="1200" dirty="0"/>
          </a:p>
        </p:txBody>
      </p:sp>
      <p:pic>
        <p:nvPicPr>
          <p:cNvPr id="26" name="Image 8" descr="วูล์ฟคัท"/>
          <p:cNvPicPr>
            <a:picLocks noChangeAspect="1"/>
          </p:cNvPicPr>
          <p:nvPr/>
        </p:nvPicPr>
        <p:blipFill>
          <a:blip r:embed="rId11"/>
          <a:srcRect t="10938" b="10938"/>
          <a:stretch/>
        </p:blipFill>
        <p:spPr>
          <a:xfrm>
            <a:off x="4385667" y="3510161"/>
            <a:ext cx="1625600" cy="1270000"/>
          </a:xfrm>
          <a:prstGeom prst="roundRect">
            <a:avLst>
              <a:gd name="adj" fmla="val 8000"/>
            </a:avLst>
          </a:prstGeom>
        </p:spPr>
      </p:pic>
      <p:sp>
        <p:nvSpPr>
          <p:cNvPr id="27" name="Text 16"/>
          <p:cNvSpPr/>
          <p:nvPr/>
        </p:nvSpPr>
        <p:spPr>
          <a:xfrm>
            <a:off x="4385667" y="4830961"/>
            <a:ext cx="1684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H09</a:t>
            </a:r>
            <a:r>
              <a:rPr lang="en-US" sz="1200" dirty="0">
                <a:solidFill>
                  <a:srgbClr val="1F1A2E"/>
                </a:solidFill>
                <a:latin typeface="IBM Plex Sans Thai" pitchFamily="34" charset="0"/>
                <a:ea typeface="IBM Plex Sans Thai" pitchFamily="34" charset="-122"/>
                <a:cs typeface="IBM Plex Sans Thai" pitchFamily="34" charset="-120"/>
              </a:rPr>
              <a:t> วูล์ฟคัท</a:t>
            </a:r>
            <a:endParaRPr lang="en-US" sz="1200" dirty="0"/>
          </a:p>
        </p:txBody>
      </p:sp>
      <p:pic>
        <p:nvPicPr>
          <p:cNvPr id="28" name="Image 9" descr="มัดจุกสูง"/>
          <p:cNvPicPr>
            <a:picLocks noChangeAspect="1"/>
          </p:cNvPicPr>
          <p:nvPr/>
        </p:nvPicPr>
        <p:blipFill>
          <a:blip r:embed="rId12"/>
          <a:srcRect t="10938" b="10938"/>
          <a:stretch/>
        </p:blipFill>
        <p:spPr>
          <a:xfrm>
            <a:off x="6172200" y="3510161"/>
            <a:ext cx="1625600" cy="1270000"/>
          </a:xfrm>
          <a:prstGeom prst="roundRect">
            <a:avLst>
              <a:gd name="adj" fmla="val 8000"/>
            </a:avLst>
          </a:prstGeom>
        </p:spPr>
      </p:pic>
      <p:sp>
        <p:nvSpPr>
          <p:cNvPr id="29" name="Text 17"/>
          <p:cNvSpPr/>
          <p:nvPr/>
        </p:nvSpPr>
        <p:spPr>
          <a:xfrm>
            <a:off x="6172200" y="483096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H10</a:t>
            </a:r>
            <a:r>
              <a:rPr lang="en-US" sz="1200" dirty="0">
                <a:solidFill>
                  <a:srgbClr val="1F1A2E"/>
                </a:solidFill>
                <a:latin typeface="IBM Plex Sans Thai" pitchFamily="34" charset="0"/>
                <a:ea typeface="IBM Plex Sans Thai" pitchFamily="34" charset="-122"/>
                <a:cs typeface="IBM Plex Sans Thai" pitchFamily="34" charset="-120"/>
              </a:rPr>
              <a:t> มัดจุกสูง</a:t>
            </a:r>
            <a:endParaRPr lang="en-US" sz="1200" dirty="0"/>
          </a:p>
        </p:txBody>
      </p:sp>
      <p:pic>
        <p:nvPicPr>
          <p:cNvPr id="30" name="Image 10" descr="ดัดโครงสร้าง"/>
          <p:cNvPicPr>
            <a:picLocks noChangeAspect="1"/>
          </p:cNvPicPr>
          <p:nvPr/>
        </p:nvPicPr>
        <p:blipFill>
          <a:blip r:embed="rId13"/>
          <a:srcRect t="10938" b="10938"/>
          <a:stretch/>
        </p:blipFill>
        <p:spPr>
          <a:xfrm>
            <a:off x="7958634" y="3510161"/>
            <a:ext cx="1625600" cy="1270000"/>
          </a:xfrm>
          <a:prstGeom prst="roundRect">
            <a:avLst>
              <a:gd name="adj" fmla="val 8000"/>
            </a:avLst>
          </a:prstGeom>
        </p:spPr>
      </p:pic>
      <p:sp>
        <p:nvSpPr>
          <p:cNvPr id="31" name="Text 18"/>
          <p:cNvSpPr/>
          <p:nvPr/>
        </p:nvSpPr>
        <p:spPr>
          <a:xfrm>
            <a:off x="7958634" y="4830961"/>
            <a:ext cx="1684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H11</a:t>
            </a:r>
            <a:r>
              <a:rPr lang="en-US" sz="1200" dirty="0">
                <a:solidFill>
                  <a:srgbClr val="1F1A2E"/>
                </a:solidFill>
                <a:latin typeface="IBM Plex Sans Thai" pitchFamily="34" charset="0"/>
                <a:ea typeface="IBM Plex Sans Thai" pitchFamily="34" charset="-122"/>
                <a:cs typeface="IBM Plex Sans Thai" pitchFamily="34" charset="-120"/>
              </a:rPr>
              <a:t> ดัดโครงสร้าง</a:t>
            </a:r>
            <a:endParaRPr lang="en-US" sz="1200" dirty="0"/>
          </a:p>
        </p:txBody>
      </p:sp>
      <p:pic>
        <p:nvPicPr>
          <p:cNvPr id="32" name="Image 11" descr="ซอยสั้นแสกกลาง"/>
          <p:cNvPicPr>
            <a:picLocks noChangeAspect="1"/>
          </p:cNvPicPr>
          <p:nvPr/>
        </p:nvPicPr>
        <p:blipFill>
          <a:blip r:embed="rId14"/>
          <a:srcRect t="10938" b="10938"/>
          <a:stretch/>
        </p:blipFill>
        <p:spPr>
          <a:xfrm>
            <a:off x="9745067" y="3510161"/>
            <a:ext cx="1625600" cy="1270000"/>
          </a:xfrm>
          <a:prstGeom prst="roundRect">
            <a:avLst>
              <a:gd name="adj" fmla="val 8000"/>
            </a:avLst>
          </a:prstGeom>
        </p:spPr>
      </p:pic>
      <p:sp>
        <p:nvSpPr>
          <p:cNvPr id="33" name="Text 19"/>
          <p:cNvSpPr/>
          <p:nvPr/>
        </p:nvSpPr>
        <p:spPr>
          <a:xfrm>
            <a:off x="9745067" y="4830961"/>
            <a:ext cx="1684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H12</a:t>
            </a:r>
            <a:r>
              <a:rPr lang="en-US" sz="1200" dirty="0">
                <a:solidFill>
                  <a:srgbClr val="1F1A2E"/>
                </a:solidFill>
                <a:latin typeface="IBM Plex Sans Thai" pitchFamily="34" charset="0"/>
                <a:ea typeface="IBM Plex Sans Thai" pitchFamily="34" charset="-122"/>
                <a:cs typeface="IBM Plex Sans Thai" pitchFamily="34" charset="-120"/>
              </a:rPr>
              <a:t> ซอยสั้นแสกกลาง</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06 · ทำไมต้อง Graph</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โจทย์เดียวกัน เขียนด้วย SQL กับ Cypher</a:t>
            </a:r>
            <a:endParaRPr lang="en-US" sz="3200" dirty="0"/>
          </a:p>
        </p:txBody>
      </p:sp>
      <p:sp>
        <p:nvSpPr>
          <p:cNvPr id="4" name="Shape 2"/>
          <p:cNvSpPr/>
          <p:nvPr/>
        </p:nvSpPr>
        <p:spPr>
          <a:xfrm>
            <a:off x="815975" y="1928416"/>
            <a:ext cx="5168900" cy="3575050"/>
          </a:xfrm>
          <a:prstGeom prst="roundRect">
            <a:avLst>
              <a:gd name="adj" fmla="val 3464"/>
            </a:avLst>
          </a:prstGeom>
          <a:solidFill>
            <a:srgbClr val="FFFDF9"/>
          </a:solidFill>
          <a:ln w="6350">
            <a:solidFill>
              <a:srgbClr val="E4DBCF"/>
            </a:solidFill>
            <a:prstDash val="solid"/>
          </a:ln>
        </p:spPr>
      </p:sp>
      <p:sp>
        <p:nvSpPr>
          <p:cNvPr id="5" name="Text 3"/>
          <p:cNvSpPr/>
          <p:nvPr/>
        </p:nvSpPr>
        <p:spPr>
          <a:xfrm>
            <a:off x="1073150" y="2185591"/>
            <a:ext cx="47941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1A2E"/>
                </a:solidFill>
                <a:latin typeface="Prompt" pitchFamily="34" charset="0"/>
                <a:ea typeface="Prompt" pitchFamily="34" charset="-122"/>
                <a:cs typeface="Prompt" pitchFamily="34" charset="-120"/>
              </a:rPr>
              <a:t>SQL (ตาราง)</a:t>
            </a:r>
            <a:endParaRPr lang="en-US" sz="2000" dirty="0"/>
          </a:p>
        </p:txBody>
      </p:sp>
      <p:sp>
        <p:nvSpPr>
          <p:cNvPr id="6" name="Text 4"/>
          <p:cNvSpPr/>
          <p:nvPr/>
        </p:nvSpPr>
        <p:spPr>
          <a:xfrm>
            <a:off x="1073150" y="2591991"/>
            <a:ext cx="4794187" cy="2311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SELECT l3.style_id, COUNT(*)</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FROM likes l1</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JOIN likes l2 ON l1.style_id = l2.style_id</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JOIN likes l3 ON l2.person_id = l3.person_id</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WHERE l1.person_id = 'P01'</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AND l2.person_id &lt;&gt; 'P01'</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AND l3.style_id NOT IN (</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SELECT style_id FROM likes</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WHERE person_id = 'P01')</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GROUP BY l3.style_id</a:t>
            </a:r>
            <a:endParaRPr lang="en-US" sz="1200" dirty="0"/>
          </a:p>
        </p:txBody>
      </p:sp>
      <p:sp>
        <p:nvSpPr>
          <p:cNvPr id="7" name="Text 5"/>
          <p:cNvSpPr/>
          <p:nvPr/>
        </p:nvSpPr>
        <p:spPr>
          <a:xfrm>
            <a:off x="1073150" y="4979591"/>
            <a:ext cx="479418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410C"/>
                </a:solidFill>
                <a:latin typeface="IBM Plex Sans Thai" pitchFamily="34" charset="0"/>
                <a:ea typeface="IBM Plex Sans Thai" pitchFamily="34" charset="-122"/>
                <a:cs typeface="IBM Plex Sans Thai" pitchFamily="34" charset="-120"/>
              </a:rPr>
              <a:t>JOIN ตารางเดียวกัน 3 รอบ อ่านยาก</a:t>
            </a:r>
            <a:endParaRPr lang="en-US" sz="1500" dirty="0"/>
          </a:p>
        </p:txBody>
      </p:sp>
      <p:sp>
        <p:nvSpPr>
          <p:cNvPr id="8" name="Shape 6"/>
          <p:cNvSpPr/>
          <p:nvPr/>
        </p:nvSpPr>
        <p:spPr>
          <a:xfrm>
            <a:off x="6197600" y="1931591"/>
            <a:ext cx="5175250" cy="3568700"/>
          </a:xfrm>
          <a:prstGeom prst="roundRect">
            <a:avLst>
              <a:gd name="adj" fmla="val 3381"/>
            </a:avLst>
          </a:prstGeom>
          <a:solidFill>
            <a:srgbClr val="FFFDF9"/>
          </a:solidFill>
          <a:ln w="12700">
            <a:solidFill>
              <a:srgbClr val="6C4AB6"/>
            </a:solidFill>
            <a:prstDash val="solid"/>
          </a:ln>
        </p:spPr>
      </p:sp>
      <p:sp>
        <p:nvSpPr>
          <p:cNvPr id="9" name="Text 7"/>
          <p:cNvSpPr/>
          <p:nvPr/>
        </p:nvSpPr>
        <p:spPr>
          <a:xfrm>
            <a:off x="6457950" y="2191941"/>
            <a:ext cx="47941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C4AB6"/>
                </a:solidFill>
                <a:latin typeface="Prompt" pitchFamily="34" charset="0"/>
                <a:ea typeface="Prompt" pitchFamily="34" charset="-122"/>
                <a:cs typeface="Prompt" pitchFamily="34" charset="-120"/>
              </a:rPr>
              <a:t>Cypher (กราฟ)</a:t>
            </a:r>
            <a:endParaRPr lang="en-US" sz="2000" dirty="0"/>
          </a:p>
        </p:txBody>
      </p:sp>
      <p:sp>
        <p:nvSpPr>
          <p:cNvPr id="10" name="Text 8"/>
          <p:cNvSpPr/>
          <p:nvPr/>
        </p:nvSpPr>
        <p:spPr>
          <a:xfrm>
            <a:off x="6457950" y="2598341"/>
            <a:ext cx="4794187" cy="1854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MATCH (me:Person {person_id:'P01'})</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-[:LIKES]-&gt;(:Style)</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&lt;-[:LIKES]-(other:Person)</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-[:LIKES]-&gt;(rec:Style)</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WHERE other &lt;&gt; me</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AND NOT EXISTS {</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    (me)-[:LIKES]-&gt;(rec) }</a:t>
            </a:r>
            <a:endParaRPr lang="en-US" sz="1200" dirty="0"/>
          </a:p>
          <a:p>
            <a:pPr marL="0" indent="0" algn="l">
              <a:lnSpc>
                <a:spcPts val="1800"/>
              </a:lnSpc>
              <a:buNone/>
            </a:pPr>
            <a:r>
              <a:rPr lang="en-US" sz="1200" dirty="0">
                <a:solidFill>
                  <a:srgbClr val="1F1A2E"/>
                </a:solidFill>
                <a:latin typeface="JetBrains Mono" pitchFamily="34" charset="0"/>
                <a:ea typeface="JetBrains Mono" pitchFamily="34" charset="-122"/>
                <a:cs typeface="JetBrains Mono" pitchFamily="34" charset="-120"/>
              </a:rPr>
              <a:t>RETURN rec.name, count(*)</a:t>
            </a:r>
            <a:endParaRPr lang="en-US" sz="1200" dirty="0"/>
          </a:p>
        </p:txBody>
      </p:sp>
      <p:sp>
        <p:nvSpPr>
          <p:cNvPr id="11" name="Text 9"/>
          <p:cNvSpPr/>
          <p:nvPr/>
        </p:nvSpPr>
        <p:spPr>
          <a:xfrm>
            <a:off x="6457950" y="4528741"/>
            <a:ext cx="479418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6C4AB6"/>
                </a:solidFill>
                <a:latin typeface="IBM Plex Sans Thai" pitchFamily="34" charset="0"/>
                <a:ea typeface="IBM Plex Sans Thai" pitchFamily="34" charset="-122"/>
                <a:cs typeface="IBM Plex Sans Thai" pitchFamily="34" charset="-120"/>
              </a:rPr>
              <a:t>เขียนเป็น “เส้นทาง” ตรงกับโจทย์</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07 · วิธีแนะนำ</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เดินตามเส้นในกราฟ 3 ก้าว</a:t>
            </a:r>
            <a:endParaRPr lang="en-US" sz="3200" dirty="0"/>
          </a:p>
        </p:txBody>
      </p:sp>
      <p:sp>
        <p:nvSpPr>
          <p:cNvPr id="4" name="Shape 2"/>
          <p:cNvSpPr/>
          <p:nvPr/>
        </p:nvSpPr>
        <p:spPr>
          <a:xfrm>
            <a:off x="1447800" y="2057301"/>
            <a:ext cx="1524000" cy="1524000"/>
          </a:xfrm>
          <a:prstGeom prst="roundRect">
            <a:avLst>
              <a:gd name="adj" fmla="val 50000"/>
            </a:avLst>
          </a:prstGeom>
          <a:solidFill>
            <a:srgbClr val="F2A07B"/>
          </a:solidFill>
          <a:ln/>
        </p:spPr>
      </p:sp>
      <p:sp>
        <p:nvSpPr>
          <p:cNvPr id="5" name="Text 3"/>
          <p:cNvSpPr/>
          <p:nvPr/>
        </p:nvSpPr>
        <p:spPr>
          <a:xfrm>
            <a:off x="1762224" y="2566591"/>
            <a:ext cx="94585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ณรงค์ศักดิ์</a:t>
            </a:r>
            <a:endParaRPr lang="en-US" sz="1500" dirty="0"/>
          </a:p>
        </p:txBody>
      </p:sp>
      <p:sp>
        <p:nvSpPr>
          <p:cNvPr id="6" name="Text 4"/>
          <p:cNvSpPr/>
          <p:nvPr/>
        </p:nvSpPr>
        <p:spPr>
          <a:xfrm>
            <a:off x="2072084" y="2858691"/>
            <a:ext cx="3261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P01</a:t>
            </a:r>
            <a:endParaRPr lang="en-US" sz="1200" dirty="0"/>
          </a:p>
        </p:txBody>
      </p:sp>
      <p:pic>
        <p:nvPicPr>
          <p:cNvPr id="7" name="Image 0" descr="arrow-right"/>
          <p:cNvPicPr>
            <a:picLocks noChangeAspect="1"/>
          </p:cNvPicPr>
          <p:nvPr/>
        </p:nvPicPr>
        <p:blipFill>
          <a:blip r:embed="rId3"/>
          <a:srcRect/>
          <a:stretch/>
        </p:blipFill>
        <p:spPr>
          <a:xfrm>
            <a:off x="3200400" y="2534841"/>
            <a:ext cx="609600" cy="304800"/>
          </a:xfrm>
          <a:prstGeom prst="rect">
            <a:avLst/>
          </a:prstGeom>
        </p:spPr>
      </p:pic>
      <p:sp>
        <p:nvSpPr>
          <p:cNvPr id="8" name="Text 5"/>
          <p:cNvSpPr/>
          <p:nvPr/>
        </p:nvSpPr>
        <p:spPr>
          <a:xfrm>
            <a:off x="3370163" y="2890441"/>
            <a:ext cx="32087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7FA0"/>
                </a:solidFill>
                <a:latin typeface="IBM Plex Sans Thai" pitchFamily="34" charset="0"/>
                <a:ea typeface="IBM Plex Sans Thai" pitchFamily="34" charset="-122"/>
                <a:cs typeface="IBM Plex Sans Thai" pitchFamily="34" charset="-120"/>
              </a:rPr>
              <a:t>ชอบ</a:t>
            </a:r>
            <a:endParaRPr lang="en-US" sz="1200" dirty="0"/>
          </a:p>
        </p:txBody>
      </p:sp>
      <p:pic>
        <p:nvPicPr>
          <p:cNvPr id="9" name="Image 1" descr="ยาวดัดลอน"/>
          <p:cNvPicPr>
            <a:picLocks noChangeAspect="1"/>
          </p:cNvPicPr>
          <p:nvPr/>
        </p:nvPicPr>
        <p:blipFill>
          <a:blip r:embed="rId4"/>
          <a:srcRect/>
          <a:stretch/>
        </p:blipFill>
        <p:spPr>
          <a:xfrm>
            <a:off x="4076700" y="1963341"/>
            <a:ext cx="1447800" cy="1447800"/>
          </a:xfrm>
          <a:prstGeom prst="roundRect">
            <a:avLst>
              <a:gd name="adj" fmla="val 7895"/>
            </a:avLst>
          </a:prstGeom>
        </p:spPr>
      </p:pic>
      <p:sp>
        <p:nvSpPr>
          <p:cNvPr id="10" name="Shape 6"/>
          <p:cNvSpPr/>
          <p:nvPr/>
        </p:nvSpPr>
        <p:spPr>
          <a:xfrm>
            <a:off x="4057650" y="1944291"/>
            <a:ext cx="1485900" cy="1485900"/>
          </a:xfrm>
          <a:prstGeom prst="roundRect">
            <a:avLst>
              <a:gd name="adj" fmla="val 8974"/>
            </a:avLst>
          </a:prstGeom>
          <a:noFill/>
          <a:ln w="38100">
            <a:solidFill>
              <a:srgbClr val="8A7FA0"/>
            </a:solidFill>
            <a:prstDash val="solid"/>
          </a:ln>
        </p:spPr>
      </p:sp>
      <p:sp>
        <p:nvSpPr>
          <p:cNvPr id="11" name="Text 7"/>
          <p:cNvSpPr/>
          <p:nvPr/>
        </p:nvSpPr>
        <p:spPr>
          <a:xfrm>
            <a:off x="4274641" y="3500041"/>
            <a:ext cx="11027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H05 ยาวดัดลอน</a:t>
            </a:r>
            <a:endParaRPr lang="en-US" sz="1200" dirty="0"/>
          </a:p>
        </p:txBody>
      </p:sp>
      <p:pic>
        <p:nvPicPr>
          <p:cNvPr id="12" name="Image 2" descr="arrow-left"/>
          <p:cNvPicPr>
            <a:picLocks noChangeAspect="1"/>
          </p:cNvPicPr>
          <p:nvPr/>
        </p:nvPicPr>
        <p:blipFill>
          <a:blip r:embed="rId5"/>
          <a:srcRect/>
          <a:stretch/>
        </p:blipFill>
        <p:spPr>
          <a:xfrm>
            <a:off x="5791200" y="2534841"/>
            <a:ext cx="609600" cy="304800"/>
          </a:xfrm>
          <a:prstGeom prst="rect">
            <a:avLst/>
          </a:prstGeom>
        </p:spPr>
      </p:pic>
      <p:sp>
        <p:nvSpPr>
          <p:cNvPr id="13" name="Text 8"/>
          <p:cNvSpPr/>
          <p:nvPr/>
        </p:nvSpPr>
        <p:spPr>
          <a:xfrm>
            <a:off x="5960963" y="2890441"/>
            <a:ext cx="32087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7FA0"/>
                </a:solidFill>
                <a:latin typeface="IBM Plex Sans Thai" pitchFamily="34" charset="0"/>
                <a:ea typeface="IBM Plex Sans Thai" pitchFamily="34" charset="-122"/>
                <a:cs typeface="IBM Plex Sans Thai" pitchFamily="34" charset="-120"/>
              </a:rPr>
              <a:t>ชอบ</a:t>
            </a:r>
            <a:endParaRPr lang="en-US" sz="1200" dirty="0"/>
          </a:p>
        </p:txBody>
      </p:sp>
      <p:sp>
        <p:nvSpPr>
          <p:cNvPr id="14" name="Shape 9"/>
          <p:cNvSpPr/>
          <p:nvPr/>
        </p:nvSpPr>
        <p:spPr>
          <a:xfrm>
            <a:off x="6629400" y="2057301"/>
            <a:ext cx="1524000" cy="1524000"/>
          </a:xfrm>
          <a:prstGeom prst="roundRect">
            <a:avLst>
              <a:gd name="adj" fmla="val 50000"/>
            </a:avLst>
          </a:prstGeom>
          <a:solidFill>
            <a:srgbClr val="B9D3F5"/>
          </a:solidFill>
          <a:ln/>
        </p:spPr>
      </p:sp>
      <p:sp>
        <p:nvSpPr>
          <p:cNvPr id="15" name="Text 10"/>
          <p:cNvSpPr/>
          <p:nvPr/>
        </p:nvSpPr>
        <p:spPr>
          <a:xfrm>
            <a:off x="7171531" y="2566591"/>
            <a:ext cx="4905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อริสา</a:t>
            </a:r>
            <a:endParaRPr lang="en-US" sz="1500" dirty="0"/>
          </a:p>
        </p:txBody>
      </p:sp>
      <p:sp>
        <p:nvSpPr>
          <p:cNvPr id="16" name="Text 11"/>
          <p:cNvSpPr/>
          <p:nvPr/>
        </p:nvSpPr>
        <p:spPr>
          <a:xfrm>
            <a:off x="7253684" y="2858691"/>
            <a:ext cx="3261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P15</a:t>
            </a:r>
            <a:endParaRPr lang="en-US" sz="1200" dirty="0"/>
          </a:p>
        </p:txBody>
      </p:sp>
      <p:pic>
        <p:nvPicPr>
          <p:cNvPr id="17" name="Image 3" descr="arrow-right"/>
          <p:cNvPicPr>
            <a:picLocks noChangeAspect="1"/>
          </p:cNvPicPr>
          <p:nvPr/>
        </p:nvPicPr>
        <p:blipFill>
          <a:blip r:embed="rId6"/>
          <a:srcRect/>
          <a:stretch/>
        </p:blipFill>
        <p:spPr>
          <a:xfrm>
            <a:off x="8382000" y="2534841"/>
            <a:ext cx="609600" cy="304800"/>
          </a:xfrm>
          <a:prstGeom prst="rect">
            <a:avLst/>
          </a:prstGeom>
        </p:spPr>
      </p:pic>
      <p:sp>
        <p:nvSpPr>
          <p:cNvPr id="18" name="Text 12"/>
          <p:cNvSpPr/>
          <p:nvPr/>
        </p:nvSpPr>
        <p:spPr>
          <a:xfrm>
            <a:off x="8551763" y="2890441"/>
            <a:ext cx="32087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ชอบ</a:t>
            </a:r>
            <a:endParaRPr lang="en-US" sz="1200" dirty="0"/>
          </a:p>
        </p:txBody>
      </p:sp>
      <p:pic>
        <p:nvPicPr>
          <p:cNvPr id="19" name="Image 4" descr="ยาวตรงแสกกลาง"/>
          <p:cNvPicPr>
            <a:picLocks noChangeAspect="1"/>
          </p:cNvPicPr>
          <p:nvPr/>
        </p:nvPicPr>
        <p:blipFill>
          <a:blip r:embed="rId7"/>
          <a:srcRect/>
          <a:stretch/>
        </p:blipFill>
        <p:spPr>
          <a:xfrm>
            <a:off x="9258300" y="1963341"/>
            <a:ext cx="1447800" cy="1447800"/>
          </a:xfrm>
          <a:prstGeom prst="roundRect">
            <a:avLst>
              <a:gd name="adj" fmla="val 7895"/>
            </a:avLst>
          </a:prstGeom>
        </p:spPr>
      </p:pic>
      <p:sp>
        <p:nvSpPr>
          <p:cNvPr id="20" name="Shape 13"/>
          <p:cNvSpPr/>
          <p:nvPr/>
        </p:nvSpPr>
        <p:spPr>
          <a:xfrm>
            <a:off x="9239250" y="1944291"/>
            <a:ext cx="1485900" cy="1485900"/>
          </a:xfrm>
          <a:prstGeom prst="roundRect">
            <a:avLst>
              <a:gd name="adj" fmla="val 8974"/>
            </a:avLst>
          </a:prstGeom>
          <a:noFill/>
          <a:ln w="38100">
            <a:solidFill>
              <a:srgbClr val="6C4AB6"/>
            </a:solidFill>
            <a:prstDash val="solid"/>
          </a:ln>
        </p:spPr>
      </p:sp>
      <p:sp>
        <p:nvSpPr>
          <p:cNvPr id="21" name="Text 14"/>
          <p:cNvSpPr/>
          <p:nvPr/>
        </p:nvSpPr>
        <p:spPr>
          <a:xfrm>
            <a:off x="9239151" y="3500041"/>
            <a:ext cx="153689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H04 ยาวตรงแสกกลาง</a:t>
            </a:r>
            <a:endParaRPr lang="en-US" sz="1200" dirty="0"/>
          </a:p>
        </p:txBody>
      </p:sp>
      <p:sp>
        <p:nvSpPr>
          <p:cNvPr id="22" name="Shape 15"/>
          <p:cNvSpPr/>
          <p:nvPr/>
        </p:nvSpPr>
        <p:spPr>
          <a:xfrm>
            <a:off x="815975" y="4072136"/>
            <a:ext cx="3414117" cy="1258491"/>
          </a:xfrm>
          <a:prstGeom prst="roundRect">
            <a:avLst>
              <a:gd name="adj" fmla="val 9839"/>
            </a:avLst>
          </a:prstGeom>
          <a:solidFill>
            <a:srgbClr val="FFFDF9"/>
          </a:solidFill>
          <a:ln w="6350">
            <a:solidFill>
              <a:srgbClr val="E4DBCF"/>
            </a:solidFill>
            <a:prstDash val="solid"/>
          </a:ln>
        </p:spPr>
      </p:sp>
      <p:sp>
        <p:nvSpPr>
          <p:cNvPr id="23" name="Text 16"/>
          <p:cNvSpPr/>
          <p:nvPr/>
        </p:nvSpPr>
        <p:spPr>
          <a:xfrm>
            <a:off x="996950" y="4253111"/>
            <a:ext cx="31437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ก้าวที่ 1</a:t>
            </a:r>
            <a:endParaRPr lang="en-US" sz="1200" dirty="0"/>
          </a:p>
        </p:txBody>
      </p:sp>
      <p:sp>
        <p:nvSpPr>
          <p:cNvPr id="24" name="Text 17"/>
          <p:cNvSpPr/>
          <p:nvPr/>
        </p:nvSpPr>
        <p:spPr>
          <a:xfrm>
            <a:off x="996950" y="4568031"/>
            <a:ext cx="314373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ทรงที่ P01 ชอบ</a:t>
            </a:r>
            <a:endParaRPr lang="en-US" sz="1500" dirty="0"/>
          </a:p>
        </p:txBody>
      </p:sp>
      <p:sp>
        <p:nvSpPr>
          <p:cNvPr id="25" name="Text 18"/>
          <p:cNvSpPr/>
          <p:nvPr/>
        </p:nvSpPr>
        <p:spPr>
          <a:xfrm>
            <a:off x="996950" y="4936331"/>
            <a:ext cx="31437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ยาวดัดลอน</a:t>
            </a:r>
            <a:endParaRPr lang="en-US" sz="1200" dirty="0"/>
          </a:p>
        </p:txBody>
      </p:sp>
      <p:sp>
        <p:nvSpPr>
          <p:cNvPr id="26" name="Shape 19"/>
          <p:cNvSpPr/>
          <p:nvPr/>
        </p:nvSpPr>
        <p:spPr>
          <a:xfrm>
            <a:off x="4388842" y="4072136"/>
            <a:ext cx="3414216" cy="1258491"/>
          </a:xfrm>
          <a:prstGeom prst="roundRect">
            <a:avLst>
              <a:gd name="adj" fmla="val 9839"/>
            </a:avLst>
          </a:prstGeom>
          <a:solidFill>
            <a:srgbClr val="FFFDF9"/>
          </a:solidFill>
          <a:ln w="6350">
            <a:solidFill>
              <a:srgbClr val="E4DBCF"/>
            </a:solidFill>
            <a:prstDash val="solid"/>
          </a:ln>
        </p:spPr>
      </p:sp>
      <p:sp>
        <p:nvSpPr>
          <p:cNvPr id="27" name="Text 20"/>
          <p:cNvSpPr/>
          <p:nvPr/>
        </p:nvSpPr>
        <p:spPr>
          <a:xfrm>
            <a:off x="4569817" y="4253111"/>
            <a:ext cx="3143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ก้าวที่ 2</a:t>
            </a:r>
            <a:endParaRPr lang="en-US" sz="1200" dirty="0"/>
          </a:p>
        </p:txBody>
      </p:sp>
      <p:sp>
        <p:nvSpPr>
          <p:cNvPr id="28" name="Text 21"/>
          <p:cNvSpPr/>
          <p:nvPr/>
        </p:nvSpPr>
        <p:spPr>
          <a:xfrm>
            <a:off x="4569817" y="4568031"/>
            <a:ext cx="3143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ใครชอบทรงเดียวกัน</a:t>
            </a:r>
            <a:endParaRPr lang="en-US" sz="1500" dirty="0"/>
          </a:p>
        </p:txBody>
      </p:sp>
      <p:sp>
        <p:nvSpPr>
          <p:cNvPr id="29" name="Text 22"/>
          <p:cNvSpPr/>
          <p:nvPr/>
        </p:nvSpPr>
        <p:spPr>
          <a:xfrm>
            <a:off x="4569817" y="493633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อริสา ก็ชอบยาวดัดลอน</a:t>
            </a:r>
            <a:endParaRPr lang="en-US" sz="1200" dirty="0"/>
          </a:p>
        </p:txBody>
      </p:sp>
      <p:sp>
        <p:nvSpPr>
          <p:cNvPr id="30" name="Shape 23"/>
          <p:cNvSpPr/>
          <p:nvPr/>
        </p:nvSpPr>
        <p:spPr>
          <a:xfrm>
            <a:off x="7961809" y="4072136"/>
            <a:ext cx="3414216" cy="1258491"/>
          </a:xfrm>
          <a:prstGeom prst="roundRect">
            <a:avLst>
              <a:gd name="adj" fmla="val 9839"/>
            </a:avLst>
          </a:prstGeom>
          <a:solidFill>
            <a:srgbClr val="FFFDF9"/>
          </a:solidFill>
          <a:ln w="6350">
            <a:solidFill>
              <a:srgbClr val="E4DBCF"/>
            </a:solidFill>
            <a:prstDash val="solid"/>
          </a:ln>
        </p:spPr>
      </p:sp>
      <p:sp>
        <p:nvSpPr>
          <p:cNvPr id="31" name="Text 24"/>
          <p:cNvSpPr/>
          <p:nvPr/>
        </p:nvSpPr>
        <p:spPr>
          <a:xfrm>
            <a:off x="8142784" y="4253111"/>
            <a:ext cx="3143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ก้าวที่ 3</a:t>
            </a:r>
            <a:endParaRPr lang="en-US" sz="1200" dirty="0"/>
          </a:p>
        </p:txBody>
      </p:sp>
      <p:sp>
        <p:nvSpPr>
          <p:cNvPr id="32" name="Text 25"/>
          <p:cNvSpPr/>
          <p:nvPr/>
        </p:nvSpPr>
        <p:spPr>
          <a:xfrm>
            <a:off x="8142784" y="4568031"/>
            <a:ext cx="3143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เขาชอบทรงอะไรอีก</a:t>
            </a:r>
            <a:endParaRPr lang="en-US" sz="1500" dirty="0"/>
          </a:p>
        </p:txBody>
      </p:sp>
      <p:sp>
        <p:nvSpPr>
          <p:cNvPr id="33" name="Text 26"/>
          <p:cNvSpPr/>
          <p:nvPr/>
        </p:nvSpPr>
        <p:spPr>
          <a:xfrm>
            <a:off x="8142784" y="493633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ยาวตรงแสกกลาง → แนะนำ (ถ้า P01 ยังไม่ชอบ)</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08 · การให้คะแนน</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รวม 4 สัญญาณ เป็นคะแนนเดียว</a:t>
            </a:r>
            <a:endParaRPr lang="en-US" sz="3200" dirty="0"/>
          </a:p>
        </p:txBody>
      </p:sp>
      <p:sp>
        <p:nvSpPr>
          <p:cNvPr id="4" name="Text 2"/>
          <p:cNvSpPr/>
          <p:nvPr/>
        </p:nvSpPr>
        <p:spPr>
          <a:xfrm>
            <a:off x="812800" y="1925241"/>
            <a:ext cx="10566400" cy="571500"/>
          </a:xfrm>
          <a:prstGeom prst="roundRect">
            <a:avLst>
              <a:gd name="adj" fmla="val 17778"/>
            </a:avLst>
          </a:prstGeom>
          <a:solidFill>
            <a:srgbClr val="EDE7F6"/>
          </a:solidFill>
          <a:ln/>
        </p:spPr>
        <p:txBody>
          <a:bodyPr wrap="square" lIns="173442" tIns="122642" rIns="0" bIns="97242" rtlCol="0" anchor="t">
            <a:normAutofit/>
          </a:bodyPr>
          <a:lstStyle/>
          <a:p>
            <a:pPr marL="0" indent="0" algn="l">
              <a:lnSpc>
                <a:spcPts val="2100"/>
              </a:lnSpc>
              <a:buNone/>
            </a:pPr>
            <a:r>
              <a:rPr lang="en-US" sz="1500" b="1" dirty="0">
                <a:solidFill>
                  <a:srgbClr val="6C4AB6"/>
                </a:solidFill>
                <a:latin typeface="JetBrains Mono" pitchFamily="34" charset="0"/>
                <a:ea typeface="JetBrains Mono" pitchFamily="34" charset="-122"/>
                <a:cs typeface="JetBrains Mono" pitchFamily="34" charset="-120"/>
              </a:rPr>
              <a:t>score = similar_people×3 + shared_styles×2 + popularity×0.20 + avg_score×0.25</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65041"/>
          <a:ext cx="10553700" cy="1929805"/>
        </p:xfrm>
        <a:graphic>
          <a:graphicData uri="http://schemas.openxmlformats.org/drawingml/2006/table">
            <a:tbl>
              <a:tblPr/>
              <a:tblGrid>
                <a:gridCol w="2743962">
                  <a:extLst>
                    <a:ext uri="{9D8B030D-6E8A-4147-A177-3AD203B41FA5}">
                      <a16:colId xmlns:a16="http://schemas.microsoft.com/office/drawing/2014/main" val="20000"/>
                    </a:ext>
                  </a:extLst>
                </a:gridCol>
                <a:gridCol w="6332220">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F1A2E"/>
                          </a:solidFill>
                          <a:latin typeface="IBM Plex Sans Thai" pitchFamily="34" charset="0"/>
                          <a:ea typeface="IBM Plex Sans Thai" pitchFamily="34" charset="-122"/>
                          <a:cs typeface="IBM Plex Sans Thai" pitchFamily="34" charset="-120"/>
                        </a:rPr>
                        <a:t>สัญญาณ</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1960"/>
                        </a:lnSpc>
                        <a:buNone/>
                      </a:pPr>
                      <a:r>
                        <a:rPr lang="en-US" sz="1400" b="1" dirty="0">
                          <a:solidFill>
                            <a:srgbClr val="1F1A2E"/>
                          </a:solidFill>
                          <a:latin typeface="IBM Plex Sans Thai" pitchFamily="34" charset="0"/>
                          <a:ea typeface="IBM Plex Sans Thai" pitchFamily="34" charset="-122"/>
                          <a:cs typeface="IBM Plex Sans Thai" pitchFamily="34" charset="-120"/>
                        </a:rPr>
                        <a:t>ความหมาย</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gn="r">
                        <a:lnSpc>
                          <a:spcPts val="1960"/>
                        </a:lnSpc>
                        <a:buNone/>
                      </a:pPr>
                      <a:r>
                        <a:rPr lang="en-US" sz="1400" b="1" dirty="0">
                          <a:solidFill>
                            <a:srgbClr val="1F1A2E"/>
                          </a:solidFill>
                          <a:latin typeface="IBM Plex Sans Thai" pitchFamily="34" charset="0"/>
                          <a:ea typeface="IBM Plex Sans Thai" pitchFamily="34" charset="-122"/>
                          <a:cs typeface="IBM Plex Sans Thai" pitchFamily="34" charset="-120"/>
                        </a:rPr>
                        <a:t>น้ำหนัก</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similar_people</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จำนวนคน ที่ชอบทรงเดียวกับเรา และชอบทรงนี้ (ไม่นับซ้ำ)</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gn="r">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 3</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shared_styles</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จำนวนทรงที่เราชอบ ที่มีเส้นทางเชื่อมมาถึงทรงนี้</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gn="r">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 2</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popularity</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จำนวนคนทั้งระบบ ที่ชอบทรงนี้</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gn="r">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 0.20</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avg_score</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คะแนนความชอบเฉลี่ย ของทรงนี้ (เต็ม 10)</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gn="r">
                        <a:lnSpc>
                          <a:spcPts val="1960"/>
                        </a:lnSpc>
                        <a:buNone/>
                      </a:pPr>
                      <a:r>
                        <a:rPr lang="en-US" sz="1400" dirty="0">
                          <a:solidFill>
                            <a:srgbClr val="1F1A2E"/>
                          </a:solidFill>
                          <a:latin typeface="IBM Plex Sans Thai" pitchFamily="34" charset="0"/>
                          <a:ea typeface="IBM Plex Sans Thai" pitchFamily="34" charset="-122"/>
                          <a:cs typeface="IBM Plex Sans Thai" pitchFamily="34" charset="-120"/>
                        </a:rPr>
                        <a:t>× 0.25</a:t>
                      </a:r>
                      <a:endParaRPr lang="en-US" sz="1400" dirty="0">
                        <a:latin typeface="IBM Plex Sans Thai" charset="0"/>
                        <a:ea typeface="IBM Plex Sans Thai" charset="0"/>
                        <a:cs typeface="IBM Plex Sans Thai" charset="0"/>
                      </a:endParaRPr>
                    </a:p>
                  </a:txBody>
                  <a:tcPr marL="62230" marR="62230" marT="62230" marB="6223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5150445"/>
            <a:ext cx="1088339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A5368"/>
                </a:solidFill>
                <a:latin typeface="IBM Plex Sans Thai" pitchFamily="34" charset="0"/>
                <a:ea typeface="IBM Plex Sans Thai" pitchFamily="34" charset="-122"/>
                <a:cs typeface="IBM Plex Sans Thai" pitchFamily="34" charset="-120"/>
              </a:rPr>
              <a:t>น้ำหนักเป็นค่าที่ตั้งเอง (heuristic) ให้อธิบายได้ ไม่ใช่โมเดลที่ train · คนใหม่ ที่ยังไม่ชอบทรงไหน จะได้คำแนะนำจาก popularity และ avg_score แทน</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09 · ตัวอย่างผลลัพธ์</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ทรงที่แนะนำให้ ณรงค์ศักดิ์ (P01)</a:t>
            </a:r>
            <a:endParaRPr lang="en-US" sz="3200" dirty="0"/>
          </a:p>
        </p:txBody>
      </p:sp>
      <p:sp>
        <p:nvSpPr>
          <p:cNvPr id="4" name="Text 2"/>
          <p:cNvSpPr/>
          <p:nvPr/>
        </p:nvSpPr>
        <p:spPr>
          <a:xfrm>
            <a:off x="812800" y="1925241"/>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410C"/>
                </a:solidFill>
                <a:latin typeface="IBM Plex Sans Thai" pitchFamily="34" charset="0"/>
                <a:ea typeface="IBM Plex Sans Thai" pitchFamily="34" charset="-122"/>
                <a:cs typeface="IBM Plex Sans Thai" pitchFamily="34" charset="-120"/>
              </a:rPr>
              <a:t>ชอบอยู่แล้ว</a:t>
            </a:r>
            <a:endParaRPr lang="en-US" sz="1500" dirty="0"/>
          </a:p>
        </p:txBody>
      </p:sp>
      <p:pic>
        <p:nvPicPr>
          <p:cNvPr id="5" name="Image 0" descr="ยาวดัดลอน"/>
          <p:cNvPicPr>
            <a:picLocks noChangeAspect="1"/>
          </p:cNvPicPr>
          <p:nvPr/>
        </p:nvPicPr>
        <p:blipFill>
          <a:blip r:embed="rId3"/>
          <a:srcRect/>
          <a:stretch/>
        </p:blipFill>
        <p:spPr>
          <a:xfrm>
            <a:off x="812800" y="2318941"/>
            <a:ext cx="762000" cy="762000"/>
          </a:xfrm>
          <a:prstGeom prst="roundRect">
            <a:avLst>
              <a:gd name="adj" fmla="val 13333"/>
            </a:avLst>
          </a:prstGeom>
        </p:spPr>
      </p:pic>
      <p:sp>
        <p:nvSpPr>
          <p:cNvPr id="6" name="Text 3"/>
          <p:cNvSpPr/>
          <p:nvPr/>
        </p:nvSpPr>
        <p:spPr>
          <a:xfrm>
            <a:off x="1701800" y="2473920"/>
            <a:ext cx="8524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ยาวดัดลอน</a:t>
            </a:r>
            <a:endParaRPr lang="en-US" sz="1200" dirty="0"/>
          </a:p>
        </p:txBody>
      </p:sp>
      <p:sp>
        <p:nvSpPr>
          <p:cNvPr id="7" name="Text 4"/>
          <p:cNvSpPr/>
          <p:nvPr/>
        </p:nvSpPr>
        <p:spPr>
          <a:xfrm>
            <a:off x="1701800" y="2712641"/>
            <a:ext cx="8524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คะแนน 9/10</a:t>
            </a:r>
            <a:endParaRPr lang="en-US" sz="1200" dirty="0"/>
          </a:p>
        </p:txBody>
      </p:sp>
      <p:pic>
        <p:nvPicPr>
          <p:cNvPr id="8" name="Image 1" descr="บ๊อบสั้น"/>
          <p:cNvPicPr>
            <a:picLocks noChangeAspect="1"/>
          </p:cNvPicPr>
          <p:nvPr/>
        </p:nvPicPr>
        <p:blipFill>
          <a:blip r:embed="rId4"/>
          <a:srcRect/>
          <a:stretch/>
        </p:blipFill>
        <p:spPr>
          <a:xfrm>
            <a:off x="812800" y="3207941"/>
            <a:ext cx="762000" cy="762000"/>
          </a:xfrm>
          <a:prstGeom prst="roundRect">
            <a:avLst>
              <a:gd name="adj" fmla="val 13333"/>
            </a:avLst>
          </a:prstGeom>
        </p:spPr>
      </p:pic>
      <p:sp>
        <p:nvSpPr>
          <p:cNvPr id="9" name="Text 5"/>
          <p:cNvSpPr/>
          <p:nvPr/>
        </p:nvSpPr>
        <p:spPr>
          <a:xfrm>
            <a:off x="1701800" y="3362920"/>
            <a:ext cx="8524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บ๊อบสั้น</a:t>
            </a:r>
            <a:endParaRPr lang="en-US" sz="1200" dirty="0"/>
          </a:p>
        </p:txBody>
      </p:sp>
      <p:sp>
        <p:nvSpPr>
          <p:cNvPr id="10" name="Text 6"/>
          <p:cNvSpPr/>
          <p:nvPr/>
        </p:nvSpPr>
        <p:spPr>
          <a:xfrm>
            <a:off x="1701800" y="3601641"/>
            <a:ext cx="8524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คะแนน 8/10</a:t>
            </a:r>
            <a:endParaRPr lang="en-US" sz="1200" dirty="0"/>
          </a:p>
        </p:txBody>
      </p:sp>
      <p:pic>
        <p:nvPicPr>
          <p:cNvPr id="11" name="Image 2" descr="ดัดโครงสร้าง"/>
          <p:cNvPicPr>
            <a:picLocks noChangeAspect="1"/>
          </p:cNvPicPr>
          <p:nvPr/>
        </p:nvPicPr>
        <p:blipFill>
          <a:blip r:embed="rId5"/>
          <a:srcRect/>
          <a:stretch/>
        </p:blipFill>
        <p:spPr>
          <a:xfrm>
            <a:off x="812800" y="4096941"/>
            <a:ext cx="762000" cy="762000"/>
          </a:xfrm>
          <a:prstGeom prst="roundRect">
            <a:avLst>
              <a:gd name="adj" fmla="val 13333"/>
            </a:avLst>
          </a:prstGeom>
        </p:spPr>
      </p:pic>
      <p:sp>
        <p:nvSpPr>
          <p:cNvPr id="12" name="Text 7"/>
          <p:cNvSpPr/>
          <p:nvPr/>
        </p:nvSpPr>
        <p:spPr>
          <a:xfrm>
            <a:off x="1701800" y="4251920"/>
            <a:ext cx="9034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ดัดโครงสร้าง</a:t>
            </a:r>
            <a:endParaRPr lang="en-US" sz="1200" dirty="0"/>
          </a:p>
        </p:txBody>
      </p:sp>
      <p:sp>
        <p:nvSpPr>
          <p:cNvPr id="13" name="Text 8"/>
          <p:cNvSpPr/>
          <p:nvPr/>
        </p:nvSpPr>
        <p:spPr>
          <a:xfrm>
            <a:off x="1701800" y="4490641"/>
            <a:ext cx="9034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คะแนน 8/10</a:t>
            </a:r>
            <a:endParaRPr lang="en-US" sz="1200" dirty="0"/>
          </a:p>
        </p:txBody>
      </p:sp>
      <p:sp>
        <p:nvSpPr>
          <p:cNvPr id="14" name="Shape 9"/>
          <p:cNvSpPr/>
          <p:nvPr/>
        </p:nvSpPr>
        <p:spPr>
          <a:xfrm>
            <a:off x="3533775" y="1928416"/>
            <a:ext cx="2508250" cy="2934891"/>
          </a:xfrm>
          <a:prstGeom prst="roundRect">
            <a:avLst>
              <a:gd name="adj" fmla="val 4937"/>
            </a:avLst>
          </a:prstGeom>
          <a:solidFill>
            <a:srgbClr val="FFFDF9"/>
          </a:solidFill>
          <a:ln w="6350">
            <a:solidFill>
              <a:srgbClr val="E4DBCF"/>
            </a:solidFill>
            <a:prstDash val="solid"/>
          </a:ln>
        </p:spPr>
      </p:sp>
      <p:pic>
        <p:nvPicPr>
          <p:cNvPr id="15" name="Image 3" descr="ยาวตรงแสกกลาง"/>
          <p:cNvPicPr>
            <a:picLocks noChangeAspect="1"/>
          </p:cNvPicPr>
          <p:nvPr/>
        </p:nvPicPr>
        <p:blipFill>
          <a:blip r:embed="rId6"/>
          <a:srcRect t="9375" b="9375"/>
          <a:stretch/>
        </p:blipFill>
        <p:spPr>
          <a:xfrm>
            <a:off x="3689350" y="2083991"/>
            <a:ext cx="2032000" cy="1651000"/>
          </a:xfrm>
          <a:prstGeom prst="roundRect">
            <a:avLst>
              <a:gd name="adj" fmla="val 6154"/>
            </a:avLst>
          </a:prstGeom>
        </p:spPr>
      </p:pic>
      <p:sp>
        <p:nvSpPr>
          <p:cNvPr id="16" name="Text 10"/>
          <p:cNvSpPr/>
          <p:nvPr/>
        </p:nvSpPr>
        <p:spPr>
          <a:xfrm>
            <a:off x="3689350" y="3811191"/>
            <a:ext cx="2197100" cy="264120"/>
          </a:xfrm>
          <a:custGeom>
            <a:avLst/>
            <a:gdLst/>
            <a:ahLst/>
            <a:cxnLst/>
            <a:rect l="l" t="t" r="r" b="b"/>
            <a:pathLst>
              <a:path w="2197100" h="264120">
                <a:moveTo>
                  <a:pt x="132060" y="0"/>
                </a:moveTo>
                <a:lnTo>
                  <a:pt x="2065040" y="0"/>
                </a:lnTo>
                <a:arcTo wR="132060" hR="132060" stAng="16200000" swAng="5400000"/>
                <a:lnTo>
                  <a:pt x="2197100" y="132060"/>
                </a:lnTo>
                <a:arcTo wR="132060" hR="132060" stAng="0" swAng="5400000"/>
                <a:lnTo>
                  <a:pt x="132060" y="264120"/>
                </a:lnTo>
                <a:arcTo wR="132060" hR="132060" stAng="5400000" swAng="5400000"/>
                <a:lnTo>
                  <a:pt x="0" y="132060"/>
                </a:lnTo>
                <a:arcTo wR="132060" hR="132060" stAng="10800000" swAng="5400000"/>
                <a:close/>
              </a:path>
            </a:pathLst>
          </a:custGeom>
          <a:solidFill>
            <a:srgbClr val="6C4AB6"/>
          </a:solidFill>
          <a:ln/>
        </p:spPr>
        <p:txBody>
          <a:bodyPr wrap="square" lIns="101600" tIns="25400" rIns="41783" bIns="0" rtlCol="0" anchor="t">
            <a:normAutofit/>
          </a:bodyPr>
          <a:lstStyle/>
          <a:p>
            <a:pPr marL="0" indent="0" algn="l">
              <a:lnSpc>
                <a:spcPts val="1680"/>
              </a:lnSpc>
              <a:buNone/>
            </a:pPr>
            <a:r>
              <a:rPr lang="en-US" sz="1200" b="1" dirty="0">
                <a:solidFill>
                  <a:srgbClr val="F7F3EE"/>
                </a:solidFill>
                <a:latin typeface="IBM Plex Sans Thai" pitchFamily="34" charset="0"/>
                <a:ea typeface="IBM Plex Sans Thai" pitchFamily="34" charset="-122"/>
                <a:cs typeface="IBM Plex Sans Thai" pitchFamily="34" charset="-120"/>
              </a:rPr>
              <a:t>#1 · score 12.77</a:t>
            </a:r>
            <a:endParaRPr lang="en-US" sz="1200" dirty="0"/>
          </a:p>
        </p:txBody>
      </p:sp>
      <p:sp>
        <p:nvSpPr>
          <p:cNvPr id="17" name="Text 11"/>
          <p:cNvSpPr/>
          <p:nvPr/>
        </p:nvSpPr>
        <p:spPr>
          <a:xfrm>
            <a:off x="3689350" y="4151511"/>
            <a:ext cx="226301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ยาวตรงแสกกลาง</a:t>
            </a:r>
            <a:endParaRPr lang="en-US" sz="1500" dirty="0"/>
          </a:p>
        </p:txBody>
      </p:sp>
      <p:sp>
        <p:nvSpPr>
          <p:cNvPr id="18" name="Text 12"/>
          <p:cNvSpPr/>
          <p:nvPr/>
        </p:nvSpPr>
        <p:spPr>
          <a:xfrm>
            <a:off x="3689350" y="4494411"/>
            <a:ext cx="22630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ญาดา และ อริสา ชอบทรงนี้</a:t>
            </a:r>
            <a:endParaRPr lang="en-US" sz="1200" dirty="0"/>
          </a:p>
        </p:txBody>
      </p:sp>
      <p:sp>
        <p:nvSpPr>
          <p:cNvPr id="19" name="Shape 13"/>
          <p:cNvSpPr/>
          <p:nvPr/>
        </p:nvSpPr>
        <p:spPr>
          <a:xfrm>
            <a:off x="6200775" y="1928416"/>
            <a:ext cx="2508250" cy="2934891"/>
          </a:xfrm>
          <a:prstGeom prst="roundRect">
            <a:avLst>
              <a:gd name="adj" fmla="val 4937"/>
            </a:avLst>
          </a:prstGeom>
          <a:solidFill>
            <a:srgbClr val="FFFDF9"/>
          </a:solidFill>
          <a:ln w="6350">
            <a:solidFill>
              <a:srgbClr val="E4DBCF"/>
            </a:solidFill>
            <a:prstDash val="solid"/>
          </a:ln>
        </p:spPr>
      </p:sp>
      <p:pic>
        <p:nvPicPr>
          <p:cNvPr id="20" name="Image 4" descr="ซอยสั้นแสกกลาง"/>
          <p:cNvPicPr>
            <a:picLocks noChangeAspect="1"/>
          </p:cNvPicPr>
          <p:nvPr/>
        </p:nvPicPr>
        <p:blipFill>
          <a:blip r:embed="rId7"/>
          <a:srcRect t="9375" b="9375"/>
          <a:stretch/>
        </p:blipFill>
        <p:spPr>
          <a:xfrm>
            <a:off x="6356350" y="2083991"/>
            <a:ext cx="2032000" cy="1651000"/>
          </a:xfrm>
          <a:prstGeom prst="roundRect">
            <a:avLst>
              <a:gd name="adj" fmla="val 6154"/>
            </a:avLst>
          </a:prstGeom>
        </p:spPr>
      </p:pic>
      <p:sp>
        <p:nvSpPr>
          <p:cNvPr id="21" name="Text 14"/>
          <p:cNvSpPr/>
          <p:nvPr/>
        </p:nvSpPr>
        <p:spPr>
          <a:xfrm>
            <a:off x="6356350" y="3811191"/>
            <a:ext cx="2197100" cy="264120"/>
          </a:xfrm>
          <a:custGeom>
            <a:avLst/>
            <a:gdLst/>
            <a:ahLst/>
            <a:cxnLst/>
            <a:rect l="l" t="t" r="r" b="b"/>
            <a:pathLst>
              <a:path w="2197100" h="264120">
                <a:moveTo>
                  <a:pt x="132060" y="0"/>
                </a:moveTo>
                <a:lnTo>
                  <a:pt x="2065040" y="0"/>
                </a:lnTo>
                <a:arcTo wR="132060" hR="132060" stAng="16200000" swAng="5400000"/>
                <a:lnTo>
                  <a:pt x="2197100" y="132060"/>
                </a:lnTo>
                <a:arcTo wR="132060" hR="132060" stAng="0" swAng="5400000"/>
                <a:lnTo>
                  <a:pt x="132060" y="264120"/>
                </a:lnTo>
                <a:arcTo wR="132060" hR="132060" stAng="5400000" swAng="5400000"/>
                <a:lnTo>
                  <a:pt x="0" y="132060"/>
                </a:lnTo>
                <a:arcTo wR="132060" hR="132060" stAng="10800000" swAng="5400000"/>
                <a:close/>
              </a:path>
            </a:pathLst>
          </a:custGeom>
          <a:solidFill>
            <a:srgbClr val="6C4AB6"/>
          </a:solidFill>
          <a:ln/>
        </p:spPr>
        <p:txBody>
          <a:bodyPr wrap="square" lIns="101600" tIns="25400" rIns="41783" bIns="0" rtlCol="0" anchor="t">
            <a:normAutofit/>
          </a:bodyPr>
          <a:lstStyle/>
          <a:p>
            <a:pPr marL="0" indent="0" algn="l">
              <a:lnSpc>
                <a:spcPts val="1680"/>
              </a:lnSpc>
              <a:buNone/>
            </a:pPr>
            <a:r>
              <a:rPr lang="en-US" sz="1200" b="1" dirty="0">
                <a:solidFill>
                  <a:srgbClr val="F7F3EE"/>
                </a:solidFill>
                <a:latin typeface="IBM Plex Sans Thai" pitchFamily="34" charset="0"/>
                <a:ea typeface="IBM Plex Sans Thai" pitchFamily="34" charset="-122"/>
                <a:cs typeface="IBM Plex Sans Thai" pitchFamily="34" charset="-120"/>
              </a:rPr>
              <a:t>#2 · score 12.74</a:t>
            </a:r>
            <a:endParaRPr lang="en-US" sz="1200" dirty="0"/>
          </a:p>
        </p:txBody>
      </p:sp>
      <p:sp>
        <p:nvSpPr>
          <p:cNvPr id="22" name="Text 15"/>
          <p:cNvSpPr/>
          <p:nvPr/>
        </p:nvSpPr>
        <p:spPr>
          <a:xfrm>
            <a:off x="6356350" y="4151511"/>
            <a:ext cx="226301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ซอยสั้นแสกกลาง</a:t>
            </a:r>
            <a:endParaRPr lang="en-US" sz="1500" dirty="0"/>
          </a:p>
        </p:txBody>
      </p:sp>
      <p:sp>
        <p:nvSpPr>
          <p:cNvPr id="23" name="Text 16"/>
          <p:cNvSpPr/>
          <p:nvPr/>
        </p:nvSpPr>
        <p:spPr>
          <a:xfrm>
            <a:off x="6356350" y="4494411"/>
            <a:ext cx="22630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ชัยวัฒน์ และ อนุชา ชอบทรงนี้</a:t>
            </a:r>
            <a:endParaRPr lang="en-US" sz="1200" dirty="0"/>
          </a:p>
        </p:txBody>
      </p:sp>
      <p:sp>
        <p:nvSpPr>
          <p:cNvPr id="24" name="Shape 17"/>
          <p:cNvSpPr/>
          <p:nvPr/>
        </p:nvSpPr>
        <p:spPr>
          <a:xfrm>
            <a:off x="8867775" y="1928416"/>
            <a:ext cx="2508250" cy="2934891"/>
          </a:xfrm>
          <a:prstGeom prst="roundRect">
            <a:avLst>
              <a:gd name="adj" fmla="val 4937"/>
            </a:avLst>
          </a:prstGeom>
          <a:solidFill>
            <a:srgbClr val="FFFDF9"/>
          </a:solidFill>
          <a:ln w="6350">
            <a:solidFill>
              <a:srgbClr val="E4DBCF"/>
            </a:solidFill>
            <a:prstDash val="solid"/>
          </a:ln>
        </p:spPr>
      </p:sp>
      <p:pic>
        <p:nvPicPr>
          <p:cNvPr id="25" name="Image 5" descr="บ๊อบยาว (Lob)"/>
          <p:cNvPicPr>
            <a:picLocks noChangeAspect="1"/>
          </p:cNvPicPr>
          <p:nvPr/>
        </p:nvPicPr>
        <p:blipFill>
          <a:blip r:embed="rId8"/>
          <a:srcRect t="9375" b="9375"/>
          <a:stretch/>
        </p:blipFill>
        <p:spPr>
          <a:xfrm>
            <a:off x="9023350" y="2083991"/>
            <a:ext cx="2032000" cy="1651000"/>
          </a:xfrm>
          <a:prstGeom prst="roundRect">
            <a:avLst>
              <a:gd name="adj" fmla="val 6154"/>
            </a:avLst>
          </a:prstGeom>
        </p:spPr>
      </p:pic>
      <p:sp>
        <p:nvSpPr>
          <p:cNvPr id="26" name="Text 18"/>
          <p:cNvSpPr/>
          <p:nvPr/>
        </p:nvSpPr>
        <p:spPr>
          <a:xfrm>
            <a:off x="9023350" y="3811191"/>
            <a:ext cx="2197100" cy="264120"/>
          </a:xfrm>
          <a:custGeom>
            <a:avLst/>
            <a:gdLst/>
            <a:ahLst/>
            <a:cxnLst/>
            <a:rect l="l" t="t" r="r" b="b"/>
            <a:pathLst>
              <a:path w="2197100" h="264120">
                <a:moveTo>
                  <a:pt x="132060" y="0"/>
                </a:moveTo>
                <a:lnTo>
                  <a:pt x="2065040" y="0"/>
                </a:lnTo>
                <a:arcTo wR="132060" hR="132060" stAng="16200000" swAng="5400000"/>
                <a:lnTo>
                  <a:pt x="2197100" y="132060"/>
                </a:lnTo>
                <a:arcTo wR="132060" hR="132060" stAng="0" swAng="5400000"/>
                <a:lnTo>
                  <a:pt x="132060" y="264120"/>
                </a:lnTo>
                <a:arcTo wR="132060" hR="132060" stAng="5400000" swAng="5400000"/>
                <a:lnTo>
                  <a:pt x="0" y="132060"/>
                </a:lnTo>
                <a:arcTo wR="132060" hR="132060" stAng="10800000" swAng="5400000"/>
                <a:close/>
              </a:path>
            </a:pathLst>
          </a:custGeom>
          <a:solidFill>
            <a:srgbClr val="6C4AB6"/>
          </a:solidFill>
          <a:ln/>
        </p:spPr>
        <p:txBody>
          <a:bodyPr wrap="square" lIns="101600" tIns="25400" rIns="41783" bIns="0" rtlCol="0" anchor="t">
            <a:normAutofit/>
          </a:bodyPr>
          <a:lstStyle/>
          <a:p>
            <a:pPr marL="0" indent="0" algn="l">
              <a:lnSpc>
                <a:spcPts val="1680"/>
              </a:lnSpc>
              <a:buNone/>
            </a:pPr>
            <a:r>
              <a:rPr lang="en-US" sz="1200" b="1" dirty="0">
                <a:solidFill>
                  <a:srgbClr val="F7F3EE"/>
                </a:solidFill>
                <a:latin typeface="IBM Plex Sans Thai" pitchFamily="34" charset="0"/>
                <a:ea typeface="IBM Plex Sans Thai" pitchFamily="34" charset="-122"/>
                <a:cs typeface="IBM Plex Sans Thai" pitchFamily="34" charset="-120"/>
              </a:rPr>
              <a:t>#3 · score 12.43</a:t>
            </a:r>
            <a:endParaRPr lang="en-US" sz="1200" dirty="0"/>
          </a:p>
        </p:txBody>
      </p:sp>
      <p:sp>
        <p:nvSpPr>
          <p:cNvPr id="27" name="Text 19"/>
          <p:cNvSpPr/>
          <p:nvPr/>
        </p:nvSpPr>
        <p:spPr>
          <a:xfrm>
            <a:off x="9023350" y="4151511"/>
            <a:ext cx="226301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บ๊อบยาว (Lob)</a:t>
            </a:r>
            <a:endParaRPr lang="en-US" sz="1500" dirty="0"/>
          </a:p>
        </p:txBody>
      </p:sp>
      <p:sp>
        <p:nvSpPr>
          <p:cNvPr id="28" name="Text 20"/>
          <p:cNvSpPr/>
          <p:nvPr/>
        </p:nvSpPr>
        <p:spPr>
          <a:xfrm>
            <a:off x="9023350" y="4494411"/>
            <a:ext cx="22630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กมลชนก และ วิชัย ชอบทรงนี้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2A6B"/>
        </a:solidFill>
        <a:effectLst/>
      </p:bgPr>
    </p:bg>
    <p:spTree>
      <p:nvGrpSpPr>
        <p:cNvPr id="1" name=""/>
        <p:cNvGrpSpPr/>
        <p:nvPr/>
      </p:nvGrpSpPr>
      <p:grpSpPr>
        <a:xfrm>
          <a:off x="0" y="0"/>
          <a:ext cx="0" cy="0"/>
          <a:chOff x="0" y="0"/>
          <a:chExt cx="0" cy="0"/>
        </a:xfrm>
      </p:grpSpPr>
      <p:sp>
        <p:nvSpPr>
          <p:cNvPr id="2" name="Text 0"/>
          <p:cNvSpPr/>
          <p:nvPr/>
        </p:nvSpPr>
        <p:spPr>
          <a:xfrm>
            <a:off x="812800" y="2471440"/>
            <a:ext cx="3924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9CCF5"/>
                </a:solidFill>
                <a:latin typeface="IBM Plex Sans Thai" pitchFamily="34" charset="0"/>
                <a:ea typeface="IBM Plex Sans Thai" pitchFamily="34" charset="-122"/>
                <a:cs typeface="IBM Plex Sans Thai" pitchFamily="34" charset="-120"/>
              </a:rPr>
              <a:t>10 · ที่มาของคะแนน</a:t>
            </a:r>
            <a:endParaRPr lang="en-US" sz="1200" dirty="0"/>
          </a:p>
        </p:txBody>
      </p:sp>
      <p:sp>
        <p:nvSpPr>
          <p:cNvPr id="3" name="Text 1"/>
          <p:cNvSpPr/>
          <p:nvPr/>
        </p:nvSpPr>
        <p:spPr>
          <a:xfrm>
            <a:off x="812800" y="2786360"/>
            <a:ext cx="3924300"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F7F3EE"/>
                </a:solidFill>
                <a:latin typeface="Prompt" pitchFamily="34" charset="0"/>
                <a:ea typeface="Prompt" pitchFamily="34" charset="-122"/>
                <a:cs typeface="Prompt" pitchFamily="34" charset="-120"/>
              </a:rPr>
              <a:t>12.77</a:t>
            </a:r>
            <a:endParaRPr lang="en-US" sz="6000" dirty="0"/>
          </a:p>
        </p:txBody>
      </p:sp>
      <p:sp>
        <p:nvSpPr>
          <p:cNvPr id="4" name="Text 2"/>
          <p:cNvSpPr/>
          <p:nvPr/>
        </p:nvSpPr>
        <p:spPr>
          <a:xfrm>
            <a:off x="812800" y="3726160"/>
            <a:ext cx="392430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7F3EE"/>
                </a:solidFill>
                <a:latin typeface="Prompt" pitchFamily="34" charset="0"/>
                <a:ea typeface="Prompt" pitchFamily="34" charset="-122"/>
                <a:cs typeface="Prompt" pitchFamily="34" charset="-120"/>
              </a:rPr>
              <a:t>ยาวตรงแสกกลาง (H04)</a:t>
            </a:r>
            <a:endParaRPr lang="en-US" sz="2000" dirty="0"/>
          </a:p>
          <a:p>
            <a:pPr marL="0" indent="0" algn="l">
              <a:lnSpc>
                <a:spcPts val="2600"/>
              </a:lnSpc>
              <a:buNone/>
            </a:pPr>
            <a:r>
              <a:rPr lang="en-US" sz="2000" dirty="0">
                <a:solidFill>
                  <a:srgbClr val="F7F3EE"/>
                </a:solidFill>
                <a:latin typeface="Prompt" pitchFamily="34" charset="0"/>
                <a:ea typeface="Prompt" pitchFamily="34" charset="-122"/>
                <a:cs typeface="Prompt" pitchFamily="34" charset="-120"/>
              </a:rPr>
              <a:t>อันดับ 1 ของ P01</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45100" y="1981200"/>
          <a:ext cx="6134100" cy="2476500"/>
        </p:xfrm>
        <a:graphic>
          <a:graphicData uri="http://schemas.openxmlformats.org/drawingml/2006/table">
            <a:tbl>
              <a:tblPr/>
              <a:tblGrid>
                <a:gridCol w="3189732">
                  <a:extLst>
                    <a:ext uri="{9D8B030D-6E8A-4147-A177-3AD203B41FA5}">
                      <a16:colId xmlns:a16="http://schemas.microsoft.com/office/drawing/2014/main" val="20000"/>
                    </a:ext>
                  </a:extLst>
                </a:gridCol>
                <a:gridCol w="1717548">
                  <a:extLst>
                    <a:ext uri="{9D8B030D-6E8A-4147-A177-3AD203B41FA5}">
                      <a16:colId xmlns:a16="http://schemas.microsoft.com/office/drawing/2014/main" val="20001"/>
                    </a:ext>
                  </a:extLst>
                </a:gridCol>
                <a:gridCol w="122682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7F3EE"/>
                          </a:solidFill>
                          <a:latin typeface="IBM Plex Sans Thai" pitchFamily="34" charset="0"/>
                          <a:ea typeface="IBM Plex Sans Thai" pitchFamily="34" charset="-122"/>
                          <a:cs typeface="IBM Plex Sans Thai" pitchFamily="34" charset="-120"/>
                        </a:rPr>
                        <a:t>สัญญาณ</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72659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26592"/>
                      </a:solidFill>
                      <a:prstDash val="solid"/>
                      <a:round/>
                      <a:headEnd type="none" w="med" len="med"/>
                      <a:tailEnd type="none" w="med" len="med"/>
                    </a:lnB>
                    <a:solidFill>
                      <a:srgbClr val="4C3B76"/>
                    </a:solidFill>
                  </a:tcPr>
                </a:tc>
                <a:tc>
                  <a:txBody>
                    <a:bodyPr/>
                    <a:lstStyle/>
                    <a:p>
                      <a:pPr marL="0" indent="0">
                        <a:lnSpc>
                          <a:spcPts val="2100"/>
                        </a:lnSpc>
                        <a:buNone/>
                      </a:pPr>
                      <a:r>
                        <a:rPr lang="en-US" sz="1500" b="1" dirty="0">
                          <a:solidFill>
                            <a:srgbClr val="F7F3EE"/>
                          </a:solidFill>
                          <a:latin typeface="IBM Plex Sans Thai" pitchFamily="34" charset="0"/>
                          <a:ea typeface="IBM Plex Sans Thai" pitchFamily="34" charset="-122"/>
                          <a:cs typeface="IBM Plex Sans Thai" pitchFamily="34" charset="-120"/>
                        </a:rPr>
                        <a:t>ค่า × น้ำหนัก</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726592"/>
                      </a:solidFill>
                      <a:prstDash val="solid"/>
                      <a:round/>
                      <a:headEnd type="none" w="med" len="med"/>
                      <a:tailEnd type="none" w="med" len="med"/>
                    </a:lnL>
                    <a:lnR w="12700" cap="flat" cmpd="sng" algn="ctr">
                      <a:solidFill>
                        <a:srgbClr val="72659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26592"/>
                      </a:solidFill>
                      <a:prstDash val="solid"/>
                      <a:round/>
                      <a:headEnd type="none" w="med" len="med"/>
                      <a:tailEnd type="none" w="med" len="med"/>
                    </a:lnB>
                    <a:solidFill>
                      <a:srgbClr val="4C3B76"/>
                    </a:solidFill>
                  </a:tcPr>
                </a:tc>
                <a:tc>
                  <a:txBody>
                    <a:bodyPr/>
                    <a:lstStyle/>
                    <a:p>
                      <a:pPr marL="0" indent="0" algn="r">
                        <a:lnSpc>
                          <a:spcPts val="2100"/>
                        </a:lnSpc>
                        <a:buNone/>
                      </a:pPr>
                      <a:r>
                        <a:rPr lang="en-US" sz="1500" b="1" dirty="0">
                          <a:solidFill>
                            <a:srgbClr val="F7F3EE"/>
                          </a:solidFill>
                          <a:latin typeface="IBM Plex Sans Thai" pitchFamily="34" charset="0"/>
                          <a:ea typeface="IBM Plex Sans Thai" pitchFamily="34" charset="-122"/>
                          <a:cs typeface="IBM Plex Sans Thai" pitchFamily="34" charset="-120"/>
                        </a:rPr>
                        <a:t>คะแนน</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726592"/>
                      </a:solidFill>
                      <a:prstDash val="solid"/>
                      <a:round/>
                      <a:headEnd type="none" w="med" len="med"/>
                      <a:tailEnd type="none" w="med" len="med"/>
                    </a:lnL>
                    <a:lnR w="12700" cap="flat" cmpd="sng" algn="ctr">
                      <a:solidFill>
                        <a:srgbClr val="72659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26592"/>
                      </a:solidFill>
                      <a:prstDash val="solid"/>
                      <a:round/>
                      <a:headEnd type="none" w="med" len="med"/>
                      <a:tailEnd type="none" w="med" len="med"/>
                    </a:lnB>
                    <a:solidFill>
                      <a:srgbClr val="4C3B76"/>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คนที่ชอบคล้ายกัน</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726592"/>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2 × 3</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726592"/>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gn="r">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6.00</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726592"/>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ทรงที่เชื่อมมาถึง</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2 × 2</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gn="r">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4.00</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คนชอบทั้งหมด</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3 × 0.20</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gn="r">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0.60</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คะแนนเฉลี่ย</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8.67 × 0.25</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tc>
                  <a:txBody>
                    <a:bodyPr/>
                    <a:lstStyle/>
                    <a:p>
                      <a:pPr marL="0" indent="0" algn="r">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2.17</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675889"/>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675889"/>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รวม</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675889"/>
                      </a:solidFill>
                      <a:prstDash val="solid"/>
                      <a:round/>
                      <a:headEnd type="none" w="med" len="med"/>
                      <a:tailEnd type="none" w="med" len="med"/>
                    </a:lnL>
                    <a:lnR w="12700" cap="flat" cmpd="sng" algn="ctr">
                      <a:solidFill>
                        <a:srgbClr val="7967A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967A2"/>
                      </a:solidFill>
                      <a:prstDash val="solid"/>
                      <a:round/>
                      <a:headEnd type="none" w="med" len="med"/>
                      <a:tailEnd type="none" w="med" len="med"/>
                    </a:lnB>
                    <a:solidFill>
                      <a:srgbClr val="553E8A"/>
                    </a:solidFill>
                  </a:tcPr>
                </a:tc>
                <a:tc>
                  <a:txBody>
                    <a:bodyPr/>
                    <a:lstStyle/>
                    <a:p>
                      <a:pPr marL="0" indent="0">
                        <a:lnSpc>
                          <a:spcPts val="2100"/>
                        </a:lnSpc>
                        <a:buNone/>
                      </a:pP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7967A2"/>
                      </a:solidFill>
                      <a:prstDash val="solid"/>
                      <a:round/>
                      <a:headEnd type="none" w="med" len="med"/>
                      <a:tailEnd type="none" w="med" len="med"/>
                    </a:lnL>
                    <a:lnR w="12700" cap="flat" cmpd="sng" algn="ctr">
                      <a:solidFill>
                        <a:srgbClr val="7967A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967A2"/>
                      </a:solidFill>
                      <a:prstDash val="solid"/>
                      <a:round/>
                      <a:headEnd type="none" w="med" len="med"/>
                      <a:tailEnd type="none" w="med" len="med"/>
                    </a:lnB>
                    <a:solidFill>
                      <a:srgbClr val="553E8A"/>
                    </a:solidFill>
                  </a:tcPr>
                </a:tc>
                <a:tc>
                  <a:txBody>
                    <a:bodyPr/>
                    <a:lstStyle/>
                    <a:p>
                      <a:pPr marL="0" indent="0" algn="r">
                        <a:lnSpc>
                          <a:spcPts val="2100"/>
                        </a:lnSpc>
                        <a:buNone/>
                      </a:pPr>
                      <a:r>
                        <a:rPr lang="en-US" sz="1500" dirty="0">
                          <a:solidFill>
                            <a:srgbClr val="F7F3EE"/>
                          </a:solidFill>
                          <a:latin typeface="IBM Plex Sans Thai" pitchFamily="34" charset="0"/>
                          <a:ea typeface="IBM Plex Sans Thai" pitchFamily="34" charset="-122"/>
                          <a:cs typeface="IBM Plex Sans Thai" pitchFamily="34" charset="-120"/>
                        </a:rPr>
                        <a:t>12.77</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7967A2"/>
                      </a:solidFill>
                      <a:prstDash val="solid"/>
                      <a:round/>
                      <a:headEnd type="none" w="med" len="med"/>
                      <a:tailEnd type="none" w="med" len="med"/>
                    </a:lnL>
                    <a:lnR w="12700" cap="flat" cmpd="sng" algn="ctr">
                      <a:solidFill>
                        <a:srgbClr val="7967A2"/>
                      </a:solidFill>
                      <a:prstDash val="solid"/>
                      <a:round/>
                      <a:headEnd type="none" w="med" len="med"/>
                      <a:tailEnd type="none" w="med" len="med"/>
                    </a:lnR>
                    <a:lnT w="12700" cap="flat" cmpd="sng" algn="ctr">
                      <a:solidFill>
                        <a:srgbClr val="675889"/>
                      </a:solidFill>
                      <a:prstDash val="solid"/>
                      <a:round/>
                      <a:headEnd type="none" w="med" len="med"/>
                      <a:tailEnd type="none" w="med" len="med"/>
                    </a:lnT>
                    <a:lnB w="12700" cap="flat" cmpd="sng" algn="ctr">
                      <a:solidFill>
                        <a:srgbClr val="7967A2"/>
                      </a:solidFill>
                      <a:prstDash val="solid"/>
                      <a:round/>
                      <a:headEnd type="none" w="med" len="med"/>
                      <a:tailEnd type="none" w="med" len="med"/>
                    </a:lnB>
                    <a:solidFill>
                      <a:srgbClr val="553E8A"/>
                    </a:solidFill>
                  </a:tcPr>
                </a:tc>
                <a:extLst>
                  <a:ext uri="{0D108BD9-81ED-4DB2-BD59-A6C34878D82A}">
                    <a16:rowId xmlns:a16="http://schemas.microsoft.com/office/drawing/2014/main" val="10005"/>
                  </a:ext>
                </a:extLst>
              </a:tr>
            </a:tbl>
          </a:graphicData>
        </a:graphic>
      </p:graphicFrame>
      <p:sp>
        <p:nvSpPr>
          <p:cNvPr id="6" name="Text 3"/>
          <p:cNvSpPr/>
          <p:nvPr/>
        </p:nvSpPr>
        <p:spPr>
          <a:xfrm>
            <a:off x="5232400" y="4660900"/>
            <a:ext cx="633120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CCF5"/>
                </a:solidFill>
                <a:latin typeface="IBM Plex Sans Thai" pitchFamily="34" charset="0"/>
                <a:ea typeface="IBM Plex Sans Thai" pitchFamily="34" charset="-122"/>
                <a:cs typeface="IBM Plex Sans Thai" pitchFamily="34" charset="-120"/>
              </a:rPr>
              <a:t>ชนะ ซอยสั้นแสกกลาง (12.74) เพราะคะแนนเฉลี่ยสูงกว่า ถึงจะมีคนชอบน้อยกว่า 1 คน</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11 · หน้าเว็บ</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เว็บ Streamlit มี 7 เมนู</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7941"/>
          <a:ext cx="10553700" cy="3302000"/>
        </p:xfrm>
        <a:graphic>
          <a:graphicData uri="http://schemas.openxmlformats.org/drawingml/2006/table">
            <a:tbl>
              <a:tblPr/>
              <a:tblGrid>
                <a:gridCol w="3166110">
                  <a:extLst>
                    <a:ext uri="{9D8B030D-6E8A-4147-A177-3AD203B41FA5}">
                      <a16:colId xmlns:a16="http://schemas.microsoft.com/office/drawing/2014/main" val="20000"/>
                    </a:ext>
                  </a:extLst>
                </a:gridCol>
                <a:gridCol w="738759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เมนู</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ทำอะไรได้</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Dashboard</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ตัวเลขสรุป กราฟทรงยอดนิยม และรูปทรงที่แต่ละคนชอบ</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Recommendations</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เลือกผู้ใช้ → ทรงที่แนะนำ พร้อมรูป คะแนน และเหตุผล</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Style Search</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ค้นหาทรงผม จากชื่อหรือรหัส</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Like / Rate</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กดชอบ ให้คะแนน 1–10 หรือยกเลิกความชอบ</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Manage Data</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เพิ่ม ลบ แก้ไข คน ทรงผม และความชอบ</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Graph Explorer</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วาดกราฟรอบตัวผู้ใช้ 2 ทอด</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Admin / Setup</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2100"/>
                        </a:lnSpc>
                        <a:buNone/>
                      </a:pPr>
                      <a:r>
                        <a:rPr lang="en-US" sz="1500" dirty="0">
                          <a:solidFill>
                            <a:srgbClr val="1F1A2E"/>
                          </a:solidFill>
                          <a:latin typeface="IBM Plex Sans Thai" pitchFamily="34" charset="0"/>
                          <a:ea typeface="IBM Plex Sans Thai" pitchFamily="34" charset="-122"/>
                          <a:cs typeface="IBM Plex Sans Thai" pitchFamily="34" charset="-120"/>
                        </a:rPr>
                        <a:t>สร้างข้อมูลตั้งต้น และบันทึกผลแนะนำลง Aura</a:t>
                      </a:r>
                      <a:endParaRPr lang="en-US" sz="1500" dirty="0">
                        <a:latin typeface="IBM Plex Sans Thai" charset="0"/>
                        <a:ea typeface="IBM Plex Sans Thai" charset="0"/>
                        <a:cs typeface="IBM Plex Sans Thai" charset="0"/>
                      </a:endParaRPr>
                    </a:p>
                  </a:txBody>
                  <a:tcPr marL="66675" marR="66675" marT="66675" marB="66675">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12 · จัดการข้อมูล</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เพิ่ม ลบ แก้ไข ด้วย Cypher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7941"/>
          <a:ext cx="10553700" cy="2729509"/>
        </p:xfrm>
        <a:graphic>
          <a:graphicData uri="http://schemas.openxmlformats.org/drawingml/2006/table">
            <a:tbl>
              <a:tblPr/>
              <a:tblGrid>
                <a:gridCol w="2321814">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การทำงาน</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Cypher หลัก</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tc>
                  <a:txBody>
                    <a:bodyPr/>
                    <a:lstStyle/>
                    <a:p>
                      <a:pPr marL="0" indent="0">
                        <a:lnSpc>
                          <a:spcPts val="1680"/>
                        </a:lnSpc>
                        <a:buNone/>
                      </a:pPr>
                      <a:r>
                        <a:rPr lang="en-US" sz="1200" b="1" dirty="0">
                          <a:solidFill>
                            <a:srgbClr val="1F1A2E"/>
                          </a:solidFill>
                          <a:latin typeface="IBM Plex Sans Thai" pitchFamily="34" charset="0"/>
                          <a:ea typeface="IBM Plex Sans Thai" pitchFamily="34" charset="-122"/>
                          <a:cs typeface="IBM Plex Sans Thai" pitchFamily="34" charset="-120"/>
                        </a:rPr>
                        <a:t>หมายเหตุ</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B7B4B0"/>
                      </a:solidFill>
                      <a:prstDash val="solid"/>
                      <a:round/>
                      <a:headEnd type="none" w="med" len="med"/>
                      <a:tailEnd type="none" w="med" len="med"/>
                    </a:lnL>
                    <a:lnR w="12700" cap="flat" cmpd="sng" algn="ctr">
                      <a:solidFill>
                        <a:srgbClr val="B7B4B0"/>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B7B4B0"/>
                      </a:solidFill>
                      <a:prstDash val="solid"/>
                      <a:round/>
                      <a:headEnd type="none" w="med" len="med"/>
                      <a:tailEnd type="none" w="med" len="med"/>
                    </a:lnB>
                    <a:solidFill>
                      <a:srgbClr val="E5E1DC"/>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เพิ่มคน / ทรงผม</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MERGE (p:Person {person_id:$id})</a:t>
                      </a:r>
                      <a:endParaRPr lang="en-US" sz="1200" dirty="0">
                        <a:latin typeface="IBM Plex Sans Thai" charset="0"/>
                        <a:ea typeface="IBM Plex Sans Thai" charset="0"/>
                        <a:cs typeface="IBM Plex Sans Thai" charset="0"/>
                      </a:endParaRPr>
                    </a:p>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ON CREATE SET p.name = $name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รหัสซ้ำ = แจ้งเตือน ไม่เขียนทับ</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B7B4B0"/>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1"/>
                  </a:ext>
                </a:extLst>
              </a:tr>
              <a:tr h="75922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เลือกทรงที่ชอบ หลายทรง</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UNWIND $rows AS row</a:t>
                      </a:r>
                      <a:endParaRPr lang="en-US" sz="1200" dirty="0">
                        <a:latin typeface="IBM Plex Sans Thai" charset="0"/>
                        <a:ea typeface="IBM Plex Sans Thai" charset="0"/>
                        <a:cs typeface="IBM Plex Sans Thai" charset="0"/>
                      </a:endParaRPr>
                    </a:p>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MERGE (p)-[r:LIKES]-&gt;(h)</a:t>
                      </a:r>
                      <a:endParaRPr lang="en-US" sz="1200" dirty="0">
                        <a:latin typeface="IBM Plex Sans Thai" charset="0"/>
                        <a:ea typeface="IBM Plex Sans Thai" charset="0"/>
                        <a:cs typeface="IBM Plex Sans Thai" charset="0"/>
                      </a:endParaRPr>
                    </a:p>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SET r.score = row.score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เพิ่มคนใหม่ พร้อมทรงที่ชอบ ในครั้งเดียว</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แก้ไข</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MATCH (h:Style {style_id:$id})</a:t>
                      </a:r>
                      <a:endParaRPr lang="en-US" sz="1200" dirty="0">
                        <a:latin typeface="IBM Plex Sans Thai" charset="0"/>
                        <a:ea typeface="IBM Plex Sans Thai" charset="0"/>
                        <a:cs typeface="IBM Plex Sans Thai" charset="0"/>
                      </a:endParaRPr>
                    </a:p>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SET h.name = $name</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รหัสเป็น primary key จึงแก้ไม่ได้</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ลบคน / ทรงผม</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MATCH (p:Person {person_id:$id})</a:t>
                      </a:r>
                      <a:endParaRPr lang="en-US" sz="1200" dirty="0">
                        <a:latin typeface="IBM Plex Sans Thai" charset="0"/>
                        <a:ea typeface="IBM Plex Sans Thai" charset="0"/>
                        <a:cs typeface="IBM Plex Sans Thai" charset="0"/>
                      </a:endParaRPr>
                    </a:p>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DETACH DELETE p</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tc>
                  <a:txBody>
                    <a:bodyPr/>
                    <a:lstStyle/>
                    <a:p>
                      <a:pPr marL="0" indent="0">
                        <a:lnSpc>
                          <a:spcPts val="1680"/>
                        </a:lnSpc>
                        <a:buNone/>
                      </a:pPr>
                      <a:r>
                        <a:rPr lang="en-US" sz="1200" dirty="0">
                          <a:solidFill>
                            <a:srgbClr val="1F1A2E"/>
                          </a:solidFill>
                          <a:latin typeface="IBM Plex Sans Thai" pitchFamily="34" charset="0"/>
                          <a:ea typeface="IBM Plex Sans Thai" pitchFamily="34" charset="-122"/>
                          <a:cs typeface="IBM Plex Sans Thai" pitchFamily="34" charset="-120"/>
                        </a:rPr>
                        <a:t>ลบเส้นที่ติดอยู่ด้วย ต้องติ๊กยืนยันก่อน</a:t>
                      </a:r>
                      <a:endParaRPr lang="en-US" sz="1200" dirty="0">
                        <a:latin typeface="IBM Plex Sans Thai" charset="0"/>
                        <a:ea typeface="IBM Plex Sans Thai" charset="0"/>
                        <a:cs typeface="IBM Plex Sans Thai" charset="0"/>
                      </a:endParaRPr>
                    </a:p>
                  </a:txBody>
                  <a:tcPr marL="53340" marR="53340" marT="53340" marB="53340">
                    <a:lnL w="12700" cap="flat" cmpd="sng" algn="ctr">
                      <a:solidFill>
                        <a:srgbClr val="C5C2BE"/>
                      </a:solidFill>
                      <a:prstDash val="solid"/>
                      <a:round/>
                      <a:headEnd type="none" w="med" len="med"/>
                      <a:tailEnd type="none" w="med" len="med"/>
                    </a:lnL>
                    <a:lnR w="12700" cap="flat" cmpd="sng" algn="ctr">
                      <a:solidFill>
                        <a:srgbClr val="C5C2BE"/>
                      </a:solidFill>
                      <a:prstDash val="solid"/>
                      <a:round/>
                      <a:headEnd type="none" w="med" len="med"/>
                      <a:tailEnd type="none" w="med" len="med"/>
                    </a:lnR>
                    <a:lnT w="12700" cap="flat" cmpd="sng" algn="ctr">
                      <a:solidFill>
                        <a:srgbClr val="C5C2BE"/>
                      </a:solidFill>
                      <a:prstDash val="solid"/>
                      <a:round/>
                      <a:headEnd type="none" w="med" len="med"/>
                      <a:tailEnd type="none" w="med" len="med"/>
                    </a:lnT>
                    <a:lnB w="12700" cap="flat" cmpd="sng" algn="ctr">
                      <a:solidFill>
                        <a:srgbClr val="C5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13 · รูปภาพทรงผม</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ไฟล์รูปเก็บใน git · Neo4j เก็บแค่ชื่อไฟล์</a:t>
            </a:r>
            <a:endParaRPr lang="en-US" sz="3200" dirty="0"/>
          </a:p>
        </p:txBody>
      </p:sp>
      <p:pic>
        <p:nvPicPr>
          <p:cNvPr id="4" name="Image 0" descr="ทรงยาวดัดลอน"/>
          <p:cNvPicPr>
            <a:picLocks noChangeAspect="1"/>
          </p:cNvPicPr>
          <p:nvPr/>
        </p:nvPicPr>
        <p:blipFill>
          <a:blip r:embed="rId3"/>
          <a:srcRect/>
          <a:stretch/>
        </p:blipFill>
        <p:spPr>
          <a:xfrm>
            <a:off x="812800" y="1925241"/>
            <a:ext cx="2286000" cy="2286000"/>
          </a:xfrm>
          <a:prstGeom prst="roundRect">
            <a:avLst>
              <a:gd name="adj" fmla="val 6667"/>
            </a:avLst>
          </a:prstGeom>
        </p:spPr>
      </p:pic>
      <p:sp>
        <p:nvSpPr>
          <p:cNvPr id="5" name="Text 2"/>
          <p:cNvSpPr/>
          <p:nvPr/>
        </p:nvSpPr>
        <p:spPr>
          <a:xfrm>
            <a:off x="1315641" y="4287441"/>
            <a:ext cx="1331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A2E"/>
                </a:solidFill>
                <a:latin typeface="JetBrains Mono" pitchFamily="34" charset="0"/>
                <a:ea typeface="JetBrains Mono" pitchFamily="34" charset="-122"/>
                <a:cs typeface="JetBrains Mono" pitchFamily="34" charset="-120"/>
              </a:rPr>
              <a:t>images/H05.png</a:t>
            </a:r>
            <a:endParaRPr lang="en-US" sz="1200" dirty="0"/>
          </a:p>
        </p:txBody>
      </p:sp>
      <p:pic>
        <p:nvPicPr>
          <p:cNvPr id="6" name="Image 1" descr="arrow-left"/>
          <p:cNvPicPr>
            <a:picLocks noChangeAspect="1"/>
          </p:cNvPicPr>
          <p:nvPr/>
        </p:nvPicPr>
        <p:blipFill>
          <a:blip r:embed="rId4"/>
          <a:srcRect/>
          <a:stretch/>
        </p:blipFill>
        <p:spPr>
          <a:xfrm>
            <a:off x="3657600" y="2890441"/>
            <a:ext cx="762000" cy="381000"/>
          </a:xfrm>
          <a:prstGeom prst="rect">
            <a:avLst/>
          </a:prstGeom>
        </p:spPr>
      </p:pic>
      <p:sp>
        <p:nvSpPr>
          <p:cNvPr id="7" name="Text 3"/>
          <p:cNvSpPr/>
          <p:nvPr/>
        </p:nvSpPr>
        <p:spPr>
          <a:xfrm>
            <a:off x="3577530" y="3322241"/>
            <a:ext cx="972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เปิดไฟล์ตามชื่อ</a:t>
            </a:r>
            <a:endParaRPr lang="en-US" sz="1200" dirty="0"/>
          </a:p>
        </p:txBody>
      </p:sp>
      <p:sp>
        <p:nvSpPr>
          <p:cNvPr id="8" name="Text 4"/>
          <p:cNvSpPr/>
          <p:nvPr/>
        </p:nvSpPr>
        <p:spPr>
          <a:xfrm>
            <a:off x="4978400" y="2422426"/>
            <a:ext cx="6400800" cy="571500"/>
          </a:xfrm>
          <a:prstGeom prst="roundRect">
            <a:avLst>
              <a:gd name="adj" fmla="val 17778"/>
            </a:avLst>
          </a:prstGeom>
          <a:solidFill>
            <a:srgbClr val="EDE7F6"/>
          </a:solidFill>
          <a:ln/>
        </p:spPr>
        <p:txBody>
          <a:bodyPr wrap="square" lIns="173442" tIns="122642" rIns="0" bIns="97242" rtlCol="0" anchor="t">
            <a:normAutofit/>
          </a:bodyPr>
          <a:lstStyle/>
          <a:p>
            <a:pPr marL="0" indent="0" algn="l">
              <a:lnSpc>
                <a:spcPts val="2100"/>
              </a:lnSpc>
              <a:buNone/>
            </a:pPr>
            <a:r>
              <a:rPr lang="en-US" sz="1500" b="1" dirty="0">
                <a:solidFill>
                  <a:srgbClr val="6C4AB6"/>
                </a:solidFill>
                <a:latin typeface="JetBrains Mono" pitchFamily="34" charset="0"/>
                <a:ea typeface="JetBrains Mono" pitchFamily="34" charset="-122"/>
                <a:cs typeface="JetBrains Mono" pitchFamily="34" charset="-120"/>
              </a:rPr>
              <a:t>(:Style {style_id:"H05", image:"H05.png"})</a:t>
            </a:r>
            <a:endParaRPr lang="en-US" sz="1500" dirty="0"/>
          </a:p>
        </p:txBody>
      </p:sp>
      <p:sp>
        <p:nvSpPr>
          <p:cNvPr id="9" name="Text 5"/>
          <p:cNvSpPr/>
          <p:nvPr/>
        </p:nvSpPr>
        <p:spPr>
          <a:xfrm>
            <a:off x="5036820" y="3146326"/>
            <a:ext cx="6526784" cy="882650"/>
          </a:xfrm>
          <a:prstGeom prst="rect">
            <a:avLst/>
          </a:prstGeom>
          <a:noFill/>
          <a:ln/>
        </p:spPr>
        <p:txBody>
          <a:bodyPr wrap="square" lIns="0" tIns="0" rIns="0" bIns="0" rtlCol="0" anchor="t">
            <a:normAutofit/>
          </a:bodyPr>
          <a:lstStyle/>
          <a:p>
            <a:pPr marL="195580" indent="-195580" algn="l">
              <a:lnSpc>
                <a:spcPts val="2250"/>
              </a:lnSpc>
              <a:buSzPct val="100000"/>
              <a:buChar char="•"/>
            </a:pPr>
            <a:r>
              <a:rPr lang="en-US" sz="1500" dirty="0">
                <a:solidFill>
                  <a:srgbClr val="1F1A2E"/>
                </a:solidFill>
                <a:latin typeface="IBM Plex Sans Thai" pitchFamily="34" charset="0"/>
                <a:ea typeface="IBM Plex Sans Thai" pitchFamily="34" charset="-122"/>
                <a:cs typeface="IBM Plex Sans Thai" pitchFamily="34" charset="-120"/>
              </a:rPr>
              <a:t>Graph DB เหมาะเก็บความสัมพันธ์ ไม่เหมาะเก็บไฟล์ใหญ่</a:t>
            </a:r>
            <a:endParaRPr lang="en-US" sz="1500" dirty="0"/>
          </a:p>
          <a:p>
            <a:pPr marL="195580" indent="-195580" algn="l">
              <a:lnSpc>
                <a:spcPts val="2250"/>
              </a:lnSpc>
              <a:buSzPct val="100000"/>
              <a:buChar char="•"/>
            </a:pPr>
            <a:r>
              <a:rPr lang="en-US" sz="1500" dirty="0">
                <a:solidFill>
                  <a:srgbClr val="1F1A2E"/>
                </a:solidFill>
                <a:latin typeface="IBM Plex Sans Thai" pitchFamily="34" charset="0"/>
                <a:ea typeface="IBM Plex Sans Thai" pitchFamily="34" charset="-122"/>
                <a:cs typeface="IBM Plex Sans Thai" pitchFamily="34" charset="-120"/>
              </a:rPr>
              <a:t>รูปอยู่ใน repo จึง deploy ไปพร้อมโค้ด</a:t>
            </a:r>
            <a:endParaRPr lang="en-US" sz="1500" dirty="0"/>
          </a:p>
          <a:p>
            <a:pPr marL="195580" indent="-195580" algn="l">
              <a:lnSpc>
                <a:spcPts val="2250"/>
              </a:lnSpc>
              <a:buSzPct val="100000"/>
              <a:buChar char="•"/>
            </a:pPr>
            <a:r>
              <a:rPr lang="en-US" sz="1500" dirty="0">
                <a:solidFill>
                  <a:srgbClr val="1F1A2E"/>
                </a:solidFill>
                <a:latin typeface="IBM Plex Sans Thai" pitchFamily="34" charset="0"/>
                <a:ea typeface="IBM Plex Sans Thai" pitchFamily="34" charset="-122"/>
                <a:cs typeface="IBM Plex Sans Thai" pitchFamily="34" charset="-120"/>
              </a:rPr>
              <a:t>รูปที่อัปโหลดบน Streamlit Cloud ไม่ถาวร ต้องดาวน์โหลด แล้ว push เข้า git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14 · ดูผลใน Neo4j Aura</a:t>
            </a:r>
            <a:endParaRPr lang="en-US" sz="1200" dirty="0"/>
          </a:p>
        </p:txBody>
      </p:sp>
      <p:sp>
        <p:nvSpPr>
          <p:cNvPr id="3" name="Text 1"/>
          <p:cNvSpPr/>
          <p:nvPr/>
        </p:nvSpPr>
        <p:spPr>
          <a:xfrm>
            <a:off x="812800" y="11023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ผลแนะนำคำนวณตอนเปิดเว็บ จึงต้องบันทึกก่อน ถึงจะเห็นใน Aura</a:t>
            </a:r>
            <a:endParaRPr lang="en-US" sz="3200" dirty="0"/>
          </a:p>
        </p:txBody>
      </p:sp>
      <p:sp>
        <p:nvSpPr>
          <p:cNvPr id="4" name="Shape 2"/>
          <p:cNvSpPr/>
          <p:nvPr/>
        </p:nvSpPr>
        <p:spPr>
          <a:xfrm>
            <a:off x="815975" y="2395736"/>
            <a:ext cx="5168900" cy="1413470"/>
          </a:xfrm>
          <a:prstGeom prst="roundRect">
            <a:avLst>
              <a:gd name="adj" fmla="val 8760"/>
            </a:avLst>
          </a:prstGeom>
          <a:solidFill>
            <a:srgbClr val="FFFDF9"/>
          </a:solidFill>
          <a:ln w="6350">
            <a:solidFill>
              <a:srgbClr val="E4DBCF"/>
            </a:solidFill>
            <a:prstDash val="solid"/>
          </a:ln>
        </p:spPr>
      </p:sp>
      <p:sp>
        <p:nvSpPr>
          <p:cNvPr id="5" name="Text 3"/>
          <p:cNvSpPr/>
          <p:nvPr/>
        </p:nvSpPr>
        <p:spPr>
          <a:xfrm>
            <a:off x="1073150" y="2652911"/>
            <a:ext cx="47941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IBM Plex Sans Thai" pitchFamily="34" charset="0"/>
                <a:ea typeface="IBM Plex Sans Thai" pitchFamily="34" charset="-122"/>
                <a:cs typeface="IBM Plex Sans Thai" pitchFamily="34" charset="-120"/>
              </a:rPr>
              <a:t>ปกติ</a:t>
            </a:r>
            <a:endParaRPr lang="en-US" sz="1200" dirty="0"/>
          </a:p>
        </p:txBody>
      </p:sp>
      <p:sp>
        <p:nvSpPr>
          <p:cNvPr id="6" name="Text 4"/>
          <p:cNvSpPr/>
          <p:nvPr/>
        </p:nvSpPr>
        <p:spPr>
          <a:xfrm>
            <a:off x="1073150" y="2967831"/>
            <a:ext cx="4794187"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F1A2E"/>
                </a:solidFill>
                <a:latin typeface="IBM Plex Sans Thai" pitchFamily="34" charset="0"/>
                <a:ea typeface="IBM Plex Sans Thai" pitchFamily="34" charset="-122"/>
                <a:cs typeface="IBM Plex Sans Thai" pitchFamily="34" charset="-120"/>
              </a:rPr>
              <a:t>query คำนวณผลแล้วส่งกลับมาที่เว็บ ไม่ได้เก็บลงฐานข้อมูล ใน Aura จึงเห็นแค่ LIKES</a:t>
            </a:r>
            <a:endParaRPr lang="en-US" sz="1500" dirty="0"/>
          </a:p>
        </p:txBody>
      </p:sp>
      <p:sp>
        <p:nvSpPr>
          <p:cNvPr id="7" name="Shape 5"/>
          <p:cNvSpPr/>
          <p:nvPr/>
        </p:nvSpPr>
        <p:spPr>
          <a:xfrm>
            <a:off x="6197600" y="2398911"/>
            <a:ext cx="5175250" cy="1407120"/>
          </a:xfrm>
          <a:prstGeom prst="roundRect">
            <a:avLst>
              <a:gd name="adj" fmla="val 8574"/>
            </a:avLst>
          </a:prstGeom>
          <a:solidFill>
            <a:srgbClr val="FFFDF9"/>
          </a:solidFill>
          <a:ln w="12700">
            <a:solidFill>
              <a:srgbClr val="6C4AB6"/>
            </a:solidFill>
            <a:prstDash val="solid"/>
          </a:ln>
        </p:spPr>
      </p:sp>
      <p:sp>
        <p:nvSpPr>
          <p:cNvPr id="8" name="Text 6"/>
          <p:cNvSpPr/>
          <p:nvPr/>
        </p:nvSpPr>
        <p:spPr>
          <a:xfrm>
            <a:off x="6457950" y="2659261"/>
            <a:ext cx="47941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4AB6"/>
                </a:solidFill>
                <a:latin typeface="IBM Plex Sans Thai" pitchFamily="34" charset="0"/>
                <a:ea typeface="IBM Plex Sans Thai" pitchFamily="34" charset="-122"/>
                <a:cs typeface="IBM Plex Sans Thai" pitchFamily="34" charset="-120"/>
              </a:rPr>
              <a:t>กดปุ่ม “บันทึกผลแนะนำลง Aura”</a:t>
            </a:r>
            <a:endParaRPr lang="en-US" sz="1200" dirty="0"/>
          </a:p>
        </p:txBody>
      </p:sp>
      <p:sp>
        <p:nvSpPr>
          <p:cNvPr id="9" name="Text 7"/>
          <p:cNvSpPr/>
          <p:nvPr/>
        </p:nvSpPr>
        <p:spPr>
          <a:xfrm>
            <a:off x="6457950" y="2974181"/>
            <a:ext cx="4794187"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F1A2E"/>
                </a:solidFill>
                <a:latin typeface="IBM Plex Sans Thai" pitchFamily="34" charset="0"/>
                <a:ea typeface="IBM Plex Sans Thai" pitchFamily="34" charset="-122"/>
                <a:cs typeface="IBM Plex Sans Thai" pitchFamily="34" charset="-120"/>
              </a:rPr>
              <a:t>ลบผลเก่า แล้วสร้างเส้น RECOMMENDED {score, rank} ให้ทุกคน 3 อันดับแรก</a:t>
            </a:r>
            <a:endParaRPr lang="en-US" sz="1500" dirty="0"/>
          </a:p>
        </p:txBody>
      </p:sp>
      <p:sp>
        <p:nvSpPr>
          <p:cNvPr id="10" name="Text 8"/>
          <p:cNvSpPr/>
          <p:nvPr/>
        </p:nvSpPr>
        <p:spPr>
          <a:xfrm>
            <a:off x="815975" y="4171156"/>
            <a:ext cx="10560050" cy="1111250"/>
          </a:xfrm>
          <a:prstGeom prst="roundRect">
            <a:avLst>
              <a:gd name="adj" fmla="val 8857"/>
            </a:avLst>
          </a:prstGeom>
          <a:solidFill>
            <a:srgbClr val="FFFDF9"/>
          </a:solidFill>
          <a:ln w="6350">
            <a:solidFill>
              <a:srgbClr val="E4DBCF"/>
            </a:solidFill>
            <a:prstDash val="solid"/>
          </a:ln>
        </p:spPr>
        <p:txBody>
          <a:bodyPr wrap="square" lIns="177547" tIns="126747" rIns="0" bIns="101347" rtlCol="0" anchor="t">
            <a:normAutofit/>
          </a:bodyPr>
          <a:lstStyle/>
          <a:p>
            <a:pPr marL="0" indent="0" algn="l">
              <a:lnSpc>
                <a:spcPts val="2100"/>
              </a:lnSpc>
              <a:buNone/>
            </a:pPr>
            <a:r>
              <a:rPr lang="en-US" sz="1500" dirty="0">
                <a:solidFill>
                  <a:srgbClr val="1F1A2E"/>
                </a:solidFill>
                <a:latin typeface="JetBrains Mono" pitchFamily="34" charset="0"/>
                <a:ea typeface="JetBrains Mono" pitchFamily="34" charset="-122"/>
                <a:cs typeface="JetBrains Mono" pitchFamily="34" charset="-120"/>
              </a:rPr>
              <a:t>MATCH path = (:Person {person_id:'P01'})</a:t>
            </a:r>
            <a:endParaRPr lang="en-US" sz="1500" dirty="0"/>
          </a:p>
          <a:p>
            <a:pPr marL="0" indent="0" algn="l">
              <a:lnSpc>
                <a:spcPts val="2100"/>
              </a:lnSpc>
              <a:buNone/>
            </a:pPr>
            <a:r>
              <a:rPr lang="en-US" sz="1500" dirty="0">
                <a:solidFill>
                  <a:srgbClr val="1F1A2E"/>
                </a:solidFill>
                <a:latin typeface="JetBrains Mono" pitchFamily="34" charset="0"/>
                <a:ea typeface="JetBrains Mono" pitchFamily="34" charset="-122"/>
                <a:cs typeface="JetBrains Mono" pitchFamily="34" charset="-120"/>
              </a:rPr>
              <a:t>  -[:LIKES|RECOMMENDED]-&gt;(:Style)</a:t>
            </a:r>
            <a:endParaRPr lang="en-US" sz="1500" dirty="0"/>
          </a:p>
          <a:p>
            <a:pPr marL="0" indent="0" algn="l">
              <a:lnSpc>
                <a:spcPts val="2100"/>
              </a:lnSpc>
              <a:buNone/>
            </a:pPr>
            <a:r>
              <a:rPr lang="en-US" sz="1500" dirty="0">
                <a:solidFill>
                  <a:srgbClr val="1F1A2E"/>
                </a:solidFill>
                <a:latin typeface="JetBrains Mono" pitchFamily="34" charset="0"/>
                <a:ea typeface="JetBrains Mono" pitchFamily="34" charset="-122"/>
                <a:cs typeface="JetBrains Mono" pitchFamily="34" charset="-120"/>
              </a:rPr>
              <a:t>RETURN path</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C4AB6"/>
                </a:solidFill>
                <a:latin typeface="IBM Plex Sans Thai" pitchFamily="34" charset="0"/>
                <a:ea typeface="IBM Plex Sans Thai" pitchFamily="34" charset="-122"/>
                <a:cs typeface="IBM Plex Sans Thai" pitchFamily="34" charset="-120"/>
              </a:rPr>
              <a:t>15 · สรุป</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1A2E"/>
                </a:solidFill>
                <a:latin typeface="Prompt" pitchFamily="34" charset="0"/>
                <a:ea typeface="Prompt" pitchFamily="34" charset="-122"/>
                <a:cs typeface="Prompt" pitchFamily="34" charset="-120"/>
              </a:rPr>
              <a:t>สิ่งที่ได้เรียนรู้ และแนวทางต่อยอด</a:t>
            </a:r>
            <a:endParaRPr lang="en-US" sz="3200" dirty="0"/>
          </a:p>
        </p:txBody>
      </p:sp>
      <p:sp>
        <p:nvSpPr>
          <p:cNvPr id="4" name="Shape 2"/>
          <p:cNvSpPr/>
          <p:nvPr/>
        </p:nvSpPr>
        <p:spPr>
          <a:xfrm>
            <a:off x="815975" y="1928416"/>
            <a:ext cx="2520950" cy="1614091"/>
          </a:xfrm>
          <a:prstGeom prst="roundRect">
            <a:avLst>
              <a:gd name="adj" fmla="val 7672"/>
            </a:avLst>
          </a:prstGeom>
          <a:solidFill>
            <a:srgbClr val="FFFDF9"/>
          </a:solidFill>
          <a:ln w="6350">
            <a:solidFill>
              <a:srgbClr val="E4DBCF"/>
            </a:solidFill>
            <a:prstDash val="solid"/>
          </a:ln>
        </p:spPr>
      </p:sp>
      <p:pic>
        <p:nvPicPr>
          <p:cNvPr id="5" name="Image 0" descr="Database"/>
          <p:cNvPicPr>
            <a:picLocks noChangeAspect="1"/>
          </p:cNvPicPr>
          <p:nvPr/>
        </p:nvPicPr>
        <p:blipFill>
          <a:blip r:embed="rId3"/>
          <a:srcRect/>
          <a:stretch/>
        </p:blipFill>
        <p:spPr>
          <a:xfrm>
            <a:off x="1022350" y="2134791"/>
            <a:ext cx="304800" cy="304800"/>
          </a:xfrm>
          <a:prstGeom prst="rect">
            <a:avLst/>
          </a:prstGeom>
        </p:spPr>
      </p:pic>
      <p:sp>
        <p:nvSpPr>
          <p:cNvPr id="6" name="Text 3"/>
          <p:cNvSpPr/>
          <p:nvPr/>
        </p:nvSpPr>
        <p:spPr>
          <a:xfrm>
            <a:off x="1022350" y="2541191"/>
            <a:ext cx="21714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ออกแบบ Graph Model</a:t>
            </a:r>
            <a:endParaRPr lang="en-US" sz="1500" dirty="0"/>
          </a:p>
        </p:txBody>
      </p:sp>
      <p:sp>
        <p:nvSpPr>
          <p:cNvPr id="7" name="Text 4"/>
          <p:cNvSpPr/>
          <p:nvPr/>
        </p:nvSpPr>
        <p:spPr>
          <a:xfrm>
            <a:off x="1022350" y="29094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node, relationship และ property บนเส้น</a:t>
            </a:r>
            <a:endParaRPr lang="en-US" sz="1200" dirty="0"/>
          </a:p>
        </p:txBody>
      </p:sp>
      <p:sp>
        <p:nvSpPr>
          <p:cNvPr id="8" name="Shape 5"/>
          <p:cNvSpPr/>
          <p:nvPr/>
        </p:nvSpPr>
        <p:spPr>
          <a:xfrm>
            <a:off x="3495675" y="1928416"/>
            <a:ext cx="2520950" cy="1614091"/>
          </a:xfrm>
          <a:prstGeom prst="roundRect">
            <a:avLst>
              <a:gd name="adj" fmla="val 7672"/>
            </a:avLst>
          </a:prstGeom>
          <a:solidFill>
            <a:srgbClr val="FFFDF9"/>
          </a:solidFill>
          <a:ln w="6350">
            <a:solidFill>
              <a:srgbClr val="E4DBCF"/>
            </a:solidFill>
            <a:prstDash val="solid"/>
          </a:ln>
        </p:spPr>
      </p:sp>
      <p:pic>
        <p:nvPicPr>
          <p:cNvPr id="9" name="Image 1" descr="Code"/>
          <p:cNvPicPr>
            <a:picLocks noChangeAspect="1"/>
          </p:cNvPicPr>
          <p:nvPr/>
        </p:nvPicPr>
        <p:blipFill>
          <a:blip r:embed="rId4"/>
          <a:srcRect/>
          <a:stretch/>
        </p:blipFill>
        <p:spPr>
          <a:xfrm>
            <a:off x="3702050" y="2134791"/>
            <a:ext cx="304800" cy="304800"/>
          </a:xfrm>
          <a:prstGeom prst="rect">
            <a:avLst/>
          </a:prstGeom>
        </p:spPr>
      </p:pic>
      <p:sp>
        <p:nvSpPr>
          <p:cNvPr id="10" name="Text 6"/>
          <p:cNvSpPr/>
          <p:nvPr/>
        </p:nvSpPr>
        <p:spPr>
          <a:xfrm>
            <a:off x="3702050" y="2541191"/>
            <a:ext cx="21714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เขียน Cypher</a:t>
            </a:r>
            <a:endParaRPr lang="en-US" sz="1500" dirty="0"/>
          </a:p>
        </p:txBody>
      </p:sp>
      <p:sp>
        <p:nvSpPr>
          <p:cNvPr id="11" name="Text 7"/>
          <p:cNvSpPr/>
          <p:nvPr/>
        </p:nvSpPr>
        <p:spPr>
          <a:xfrm>
            <a:off x="3702050" y="29094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MATCH, MERGE, UNWIND, EXISTS, DETACH DELETE</a:t>
            </a:r>
            <a:endParaRPr lang="en-US" sz="1200" dirty="0"/>
          </a:p>
        </p:txBody>
      </p:sp>
      <p:sp>
        <p:nvSpPr>
          <p:cNvPr id="12" name="Shape 8"/>
          <p:cNvSpPr/>
          <p:nvPr/>
        </p:nvSpPr>
        <p:spPr>
          <a:xfrm>
            <a:off x="6175375" y="1928416"/>
            <a:ext cx="2520950" cy="1614091"/>
          </a:xfrm>
          <a:prstGeom prst="roundRect">
            <a:avLst>
              <a:gd name="adj" fmla="val 7672"/>
            </a:avLst>
          </a:prstGeom>
          <a:solidFill>
            <a:srgbClr val="FFFDF9"/>
          </a:solidFill>
          <a:ln w="6350">
            <a:solidFill>
              <a:srgbClr val="E4DBCF"/>
            </a:solidFill>
            <a:prstDash val="solid"/>
          </a:ln>
        </p:spPr>
      </p:sp>
      <p:pic>
        <p:nvPicPr>
          <p:cNvPr id="13" name="Image 2" descr="Lightbulb"/>
          <p:cNvPicPr>
            <a:picLocks noChangeAspect="1"/>
          </p:cNvPicPr>
          <p:nvPr/>
        </p:nvPicPr>
        <p:blipFill>
          <a:blip r:embed="rId5"/>
          <a:srcRect/>
          <a:stretch/>
        </p:blipFill>
        <p:spPr>
          <a:xfrm>
            <a:off x="6381750" y="2134791"/>
            <a:ext cx="304800" cy="304800"/>
          </a:xfrm>
          <a:prstGeom prst="rect">
            <a:avLst/>
          </a:prstGeom>
        </p:spPr>
      </p:pic>
      <p:sp>
        <p:nvSpPr>
          <p:cNvPr id="14" name="Text 9"/>
          <p:cNvSpPr/>
          <p:nvPr/>
        </p:nvSpPr>
        <p:spPr>
          <a:xfrm>
            <a:off x="6381750" y="2541191"/>
            <a:ext cx="21714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ระบบแนะนำ อธิบายได้</a:t>
            </a:r>
            <a:endParaRPr lang="en-US" sz="1500" dirty="0"/>
          </a:p>
        </p:txBody>
      </p:sp>
      <p:sp>
        <p:nvSpPr>
          <p:cNvPr id="15" name="Text 10"/>
          <p:cNvSpPr/>
          <p:nvPr/>
        </p:nvSpPr>
        <p:spPr>
          <a:xfrm>
            <a:off x="6381750" y="29094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คะแนนทุกตัว ตรวจกลับไปหาเส้นในกราฟได้</a:t>
            </a:r>
            <a:endParaRPr lang="en-US" sz="1200" dirty="0"/>
          </a:p>
        </p:txBody>
      </p:sp>
      <p:sp>
        <p:nvSpPr>
          <p:cNvPr id="16" name="Shape 11"/>
          <p:cNvSpPr/>
          <p:nvPr/>
        </p:nvSpPr>
        <p:spPr>
          <a:xfrm>
            <a:off x="8855075" y="1928416"/>
            <a:ext cx="2520950" cy="1614091"/>
          </a:xfrm>
          <a:prstGeom prst="roundRect">
            <a:avLst>
              <a:gd name="adj" fmla="val 7672"/>
            </a:avLst>
          </a:prstGeom>
          <a:solidFill>
            <a:srgbClr val="FFFDF9"/>
          </a:solidFill>
          <a:ln w="6350">
            <a:solidFill>
              <a:srgbClr val="E4DBCF"/>
            </a:solidFill>
            <a:prstDash val="solid"/>
          </a:ln>
        </p:spPr>
      </p:sp>
      <p:pic>
        <p:nvPicPr>
          <p:cNvPr id="17" name="Image 3" descr="Cloud"/>
          <p:cNvPicPr>
            <a:picLocks noChangeAspect="1"/>
          </p:cNvPicPr>
          <p:nvPr/>
        </p:nvPicPr>
        <p:blipFill>
          <a:blip r:embed="rId6"/>
          <a:srcRect/>
          <a:stretch/>
        </p:blipFill>
        <p:spPr>
          <a:xfrm>
            <a:off x="9061450" y="2134791"/>
            <a:ext cx="304800" cy="304800"/>
          </a:xfrm>
          <a:prstGeom prst="rect">
            <a:avLst/>
          </a:prstGeom>
        </p:spPr>
      </p:pic>
      <p:sp>
        <p:nvSpPr>
          <p:cNvPr id="18" name="Text 12"/>
          <p:cNvSpPr/>
          <p:nvPr/>
        </p:nvSpPr>
        <p:spPr>
          <a:xfrm>
            <a:off x="9061450" y="2541191"/>
            <a:ext cx="21714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A2E"/>
                </a:solidFill>
                <a:latin typeface="IBM Plex Sans Thai" pitchFamily="34" charset="0"/>
                <a:ea typeface="IBM Plex Sans Thai" pitchFamily="34" charset="-122"/>
                <a:cs typeface="IBM Plex Sans Thai" pitchFamily="34" charset="-120"/>
              </a:rPr>
              <a:t>Deploy จริง</a:t>
            </a:r>
            <a:endParaRPr lang="en-US" sz="1500" dirty="0"/>
          </a:p>
        </p:txBody>
      </p:sp>
      <p:sp>
        <p:nvSpPr>
          <p:cNvPr id="19" name="Text 13"/>
          <p:cNvSpPr/>
          <p:nvPr/>
        </p:nvSpPr>
        <p:spPr>
          <a:xfrm>
            <a:off x="9061450" y="29094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368"/>
                </a:solidFill>
                <a:latin typeface="IBM Plex Sans Thai" pitchFamily="34" charset="0"/>
                <a:ea typeface="IBM Plex Sans Thai" pitchFamily="34" charset="-122"/>
                <a:cs typeface="IBM Plex Sans Thai" pitchFamily="34" charset="-120"/>
              </a:rPr>
              <a:t>GitHub + Streamlit Cloud + Secrets</a:t>
            </a:r>
            <a:endParaRPr lang="en-US" sz="1200" dirty="0"/>
          </a:p>
        </p:txBody>
      </p:sp>
      <p:sp>
        <p:nvSpPr>
          <p:cNvPr id="20" name="Text 14"/>
          <p:cNvSpPr/>
          <p:nvPr/>
        </p:nvSpPr>
        <p:spPr>
          <a:xfrm>
            <a:off x="812800" y="390128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410C"/>
                </a:solidFill>
                <a:latin typeface="IBM Plex Sans Thai" pitchFamily="34" charset="0"/>
                <a:ea typeface="IBM Plex Sans Thai" pitchFamily="34" charset="-122"/>
                <a:cs typeface="IBM Plex Sans Thai" pitchFamily="34" charset="-120"/>
              </a:rPr>
              <a:t>ต่อยอด</a:t>
            </a:r>
            <a:endParaRPr lang="en-US" sz="1500" dirty="0"/>
          </a:p>
        </p:txBody>
      </p:sp>
      <p:sp>
        <p:nvSpPr>
          <p:cNvPr id="21" name="Text 15"/>
          <p:cNvSpPr/>
          <p:nvPr/>
        </p:nvSpPr>
        <p:spPr>
          <a:xfrm>
            <a:off x="812800" y="4244181"/>
            <a:ext cx="10883392"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F1A2E"/>
                </a:solidFill>
                <a:latin typeface="IBM Plex Sans Thai" pitchFamily="34" charset="0"/>
                <a:ea typeface="IBM Plex Sans Thai" pitchFamily="34" charset="-122"/>
                <a:cs typeface="IBM Plex Sans Thai" pitchFamily="34" charset="-120"/>
              </a:rPr>
              <a:t>เพิ่มหมวดทรงผม (สั้น / กลาง / ยาว) · ใช้ Node Similarity ของ Neo4j GDS · วัดผลด้วย Precision@K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1A2E"/>
        </a:solidFill>
        <a:effectLst/>
      </p:bgPr>
    </p:bg>
    <p:spTree>
      <p:nvGrpSpPr>
        <p:cNvPr id="1" name=""/>
        <p:cNvGrpSpPr/>
        <p:nvPr/>
      </p:nvGrpSpPr>
      <p:grpSpPr>
        <a:xfrm>
          <a:off x="0" y="0"/>
          <a:ext cx="0" cy="0"/>
          <a:chOff x="0" y="0"/>
          <a:chExt cx="0" cy="0"/>
        </a:xfrm>
      </p:grpSpPr>
      <p:sp>
        <p:nvSpPr>
          <p:cNvPr id="2" name="Text 0"/>
          <p:cNvSpPr/>
          <p:nvPr/>
        </p:nvSpPr>
        <p:spPr>
          <a:xfrm>
            <a:off x="812800" y="23622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F7F3EE"/>
                </a:solidFill>
                <a:latin typeface="Prompt" pitchFamily="34" charset="0"/>
                <a:ea typeface="Prompt" pitchFamily="34" charset="-122"/>
                <a:cs typeface="Prompt" pitchFamily="34" charset="-120"/>
              </a:rPr>
              <a:t>ขอบคุณครับ</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ธีมของ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2547</Words>
  <Application>Microsoft Office PowerPoint</Application>
  <PresentationFormat>แบบจอกว้าง</PresentationFormat>
  <Paragraphs>286</Paragraphs>
  <Slides>17</Slides>
  <Notes>17</Notes>
  <HiddenSlides>0</HiddenSlides>
  <MMClips>0</MMClips>
  <ScaleCrop>false</ScaleCrop>
  <HeadingPairs>
    <vt:vector size="6" baseType="variant">
      <vt:variant>
        <vt:lpstr>ฟอนต์ที่ถูกใช้</vt:lpstr>
      </vt:variant>
      <vt:variant>
        <vt:i4>4</vt:i4>
      </vt:variant>
      <vt:variant>
        <vt:lpstr>ธีม</vt:lpstr>
      </vt:variant>
      <vt:variant>
        <vt:i4>1</vt:i4>
      </vt:variant>
      <vt:variant>
        <vt:lpstr>ชื่อเรื่องสไลด์</vt:lpstr>
      </vt:variant>
      <vt:variant>
        <vt:i4>17</vt:i4>
      </vt:variant>
    </vt:vector>
  </HeadingPairs>
  <TitlesOfParts>
    <vt:vector size="22" baseType="lpstr">
      <vt:lpstr>Arial</vt:lpstr>
      <vt:lpstr>IBM Plex Sans Thai</vt:lpstr>
      <vt:lpstr>JetBrains Mono</vt:lpstr>
      <vt:lpstr>Prompt</vt:lpstr>
      <vt:lpstr>Office Theme</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HairGraph: ระบบแนะนำทรงผมด้วย Graph Database</dc:title>
  <dc:subject>PptxGenJS Presentation</dc:subject>
  <dc:creator>PptxGenJS</dc:creator>
  <cp:lastModifiedBy>admin</cp:lastModifiedBy>
  <cp:revision>2</cp:revision>
  <dcterms:created xsi:type="dcterms:W3CDTF">2026-09-30T08:13:56Z</dcterms:created>
  <dcterms:modified xsi:type="dcterms:W3CDTF">2026-10-01T12:46:34Z</dcterms:modified>
</cp:coreProperties>
</file>